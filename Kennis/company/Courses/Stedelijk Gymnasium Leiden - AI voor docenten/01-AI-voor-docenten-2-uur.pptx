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853bd6e6244bcd" /><Relationship Type="http://schemas.openxmlformats.org/officeDocument/2006/relationships/extended-properties" Target="/docProps/app.xml" Id="R4d5c5f6b629f48a0" /><Relationship Type="http://schemas.openxmlformats.org/officeDocument/2006/relationships/officeDocument" Target="/ppt/presentation.xml" Id="Rf9f3cb30118549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1453538b4549c9"/>
  </p:sldMasterIdLst>
  <p:notesMasterIdLst>
    <p:notesMasterId xmlns:r="http://schemas.openxmlformats.org/officeDocument/2006/relationships" r:id="R626bc251f3cf46e6"/>
  </p:notesMasterIdLst>
  <p:sldIdLst>
    <p:sldId xmlns:r="http://schemas.openxmlformats.org/officeDocument/2006/relationships" id="256" r:id="Ra6f4f88252a14ae0"/>
    <p:sldId xmlns:r="http://schemas.openxmlformats.org/officeDocument/2006/relationships" id="257" r:id="R76700f2a70c34301"/>
    <p:sldId xmlns:r="http://schemas.openxmlformats.org/officeDocument/2006/relationships" id="258" r:id="Rf45d0cea3b1b4c7d"/>
    <p:sldId xmlns:r="http://schemas.openxmlformats.org/officeDocument/2006/relationships" id="259" r:id="Re600f1465f7042df"/>
    <p:sldId xmlns:r="http://schemas.openxmlformats.org/officeDocument/2006/relationships" id="260" r:id="Rbd7375f631434d04"/>
    <p:sldId xmlns:r="http://schemas.openxmlformats.org/officeDocument/2006/relationships" id="261" r:id="R9914485155594a00"/>
    <p:sldId xmlns:r="http://schemas.openxmlformats.org/officeDocument/2006/relationships" id="262" r:id="R693051039b5a450a"/>
    <p:sldId xmlns:r="http://schemas.openxmlformats.org/officeDocument/2006/relationships" id="263" r:id="Rd5918eee29ae44db"/>
    <p:sldId xmlns:r="http://schemas.openxmlformats.org/officeDocument/2006/relationships" id="264" r:id="R64731bcf52f2407a"/>
    <p:sldId xmlns:r="http://schemas.openxmlformats.org/officeDocument/2006/relationships" id="265" r:id="R60c24a286ec944c6"/>
    <p:sldId xmlns:r="http://schemas.openxmlformats.org/officeDocument/2006/relationships" id="266" r:id="Rf23cd912e1d744f6"/>
    <p:sldId xmlns:r="http://schemas.openxmlformats.org/officeDocument/2006/relationships" id="267" r:id="R60a1e04a80e1443f"/>
    <p:sldId xmlns:r="http://schemas.openxmlformats.org/officeDocument/2006/relationships" id="268" r:id="R455669afbe074bd2"/>
    <p:sldId xmlns:r="http://schemas.openxmlformats.org/officeDocument/2006/relationships" id="269" r:id="R8d25d8b4ed034935"/>
    <p:sldId xmlns:r="http://schemas.openxmlformats.org/officeDocument/2006/relationships" id="270" r:id="R72d7467e56714770"/>
    <p:sldId xmlns:r="http://schemas.openxmlformats.org/officeDocument/2006/relationships" id="271" r:id="R6efdc4a334214411"/>
    <p:sldId xmlns:r="http://schemas.openxmlformats.org/officeDocument/2006/relationships" id="272" r:id="R489663a4b4ae436e"/>
    <p:sldId xmlns:r="http://schemas.openxmlformats.org/officeDocument/2006/relationships" id="273" r:id="R437cf01b72f14a2e"/>
    <p:sldId xmlns:r="http://schemas.openxmlformats.org/officeDocument/2006/relationships" id="274" r:id="Rbaf12228914344aa"/>
    <p:sldId xmlns:r="http://schemas.openxmlformats.org/officeDocument/2006/relationships" id="275" r:id="R119f94f7a1004123"/>
    <p:sldId xmlns:r="http://schemas.openxmlformats.org/officeDocument/2006/relationships" id="276" r:id="Rb6751e8d05e64430"/>
    <p:sldId xmlns:r="http://schemas.openxmlformats.org/officeDocument/2006/relationships" id="277" r:id="R9f95039d395a425a"/>
    <p:sldId xmlns:r="http://schemas.openxmlformats.org/officeDocument/2006/relationships" id="278" r:id="Rff292125d1cb4a63"/>
    <p:sldId xmlns:r="http://schemas.openxmlformats.org/officeDocument/2006/relationships" id="279" r:id="Rd892f8cc1779471d"/>
    <p:sldId xmlns:r="http://schemas.openxmlformats.org/officeDocument/2006/relationships" id="280" r:id="R1a87b6ef518e488c"/>
    <p:sldId xmlns:r="http://schemas.openxmlformats.org/officeDocument/2006/relationships" id="281" r:id="Rd181f4ed657b4c85"/>
    <p:sldId xmlns:r="http://schemas.openxmlformats.org/officeDocument/2006/relationships" id="282" r:id="R25200d9453dc4d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c2656772fa46cc" /><Relationship Type="http://schemas.openxmlformats.org/officeDocument/2006/relationships/slideMaster" Target="/ppt/slideMasters/slideMaster1.xml" Id="Rb11453538b4549c9" /><Relationship Type="http://schemas.openxmlformats.org/officeDocument/2006/relationships/notesMaster" Target="/ppt/notesMasters/notesMaster1.xml" Id="R626bc251f3cf46e6" /><Relationship Type="http://schemas.openxmlformats.org/officeDocument/2006/relationships/presProps" Target="/ppt/presProps.xml" Id="Ra76c2ee1550d4ddb" /><Relationship Type="http://schemas.openxmlformats.org/officeDocument/2006/relationships/tableStyles" Target="/ppt/tableStyles.xml" Id="Rb56110346fd04bd2" /><Relationship Type="http://schemas.openxmlformats.org/officeDocument/2006/relationships/slide" Target="/ppt/slides/slide1.xml" Id="Ra6f4f88252a14ae0" /><Relationship Type="http://schemas.openxmlformats.org/officeDocument/2006/relationships/slide" Target="/ppt/slides/slide2.xml" Id="R76700f2a70c34301" /><Relationship Type="http://schemas.openxmlformats.org/officeDocument/2006/relationships/slide" Target="/ppt/slides/slide3.xml" Id="Rf45d0cea3b1b4c7d" /><Relationship Type="http://schemas.openxmlformats.org/officeDocument/2006/relationships/slide" Target="/ppt/slides/slide4.xml" Id="Re600f1465f7042df" /><Relationship Type="http://schemas.openxmlformats.org/officeDocument/2006/relationships/slide" Target="/ppt/slides/slide5.xml" Id="Rbd7375f631434d04" /><Relationship Type="http://schemas.openxmlformats.org/officeDocument/2006/relationships/slide" Target="/ppt/slides/slide6.xml" Id="R9914485155594a00" /><Relationship Type="http://schemas.openxmlformats.org/officeDocument/2006/relationships/slide" Target="/ppt/slides/slide7.xml" Id="R693051039b5a450a" /><Relationship Type="http://schemas.openxmlformats.org/officeDocument/2006/relationships/slide" Target="/ppt/slides/slide8.xml" Id="Rd5918eee29ae44db" /><Relationship Type="http://schemas.openxmlformats.org/officeDocument/2006/relationships/slide" Target="/ppt/slides/slide9.xml" Id="R64731bcf52f2407a" /><Relationship Type="http://schemas.openxmlformats.org/officeDocument/2006/relationships/slide" Target="/ppt/slides/slide10.xml" Id="R60c24a286ec944c6" /><Relationship Type="http://schemas.openxmlformats.org/officeDocument/2006/relationships/slide" Target="/ppt/slides/slide11.xml" Id="Rf23cd912e1d744f6" /><Relationship Type="http://schemas.openxmlformats.org/officeDocument/2006/relationships/slide" Target="/ppt/slides/slide12.xml" Id="R60a1e04a80e1443f" /><Relationship Type="http://schemas.openxmlformats.org/officeDocument/2006/relationships/slide" Target="/ppt/slides/slide13.xml" Id="R455669afbe074bd2" /><Relationship Type="http://schemas.openxmlformats.org/officeDocument/2006/relationships/slide" Target="/ppt/slides/slide14.xml" Id="R8d25d8b4ed034935" /><Relationship Type="http://schemas.openxmlformats.org/officeDocument/2006/relationships/slide" Target="/ppt/slides/slide15.xml" Id="R72d7467e56714770" /><Relationship Type="http://schemas.openxmlformats.org/officeDocument/2006/relationships/slide" Target="/ppt/slides/slide16.xml" Id="R6efdc4a334214411" /><Relationship Type="http://schemas.openxmlformats.org/officeDocument/2006/relationships/slide" Target="/ppt/slides/slide17.xml" Id="R489663a4b4ae436e" /><Relationship Type="http://schemas.openxmlformats.org/officeDocument/2006/relationships/slide" Target="/ppt/slides/slide18.xml" Id="R437cf01b72f14a2e" /><Relationship Type="http://schemas.openxmlformats.org/officeDocument/2006/relationships/slide" Target="/ppt/slides/slide19.xml" Id="Rbaf12228914344aa" /><Relationship Type="http://schemas.openxmlformats.org/officeDocument/2006/relationships/slide" Target="/ppt/slides/slide20.xml" Id="R119f94f7a1004123" /><Relationship Type="http://schemas.openxmlformats.org/officeDocument/2006/relationships/slide" Target="/ppt/slides/slide21.xml" Id="Rb6751e8d05e64430" /><Relationship Type="http://schemas.openxmlformats.org/officeDocument/2006/relationships/slide" Target="/ppt/slides/slide22.xml" Id="R9f95039d395a425a" /><Relationship Type="http://schemas.openxmlformats.org/officeDocument/2006/relationships/slide" Target="/ppt/slides/slide23.xml" Id="Rff292125d1cb4a63" /><Relationship Type="http://schemas.openxmlformats.org/officeDocument/2006/relationships/slide" Target="/ppt/slides/slide24.xml" Id="Rd892f8cc1779471d" /><Relationship Type="http://schemas.openxmlformats.org/officeDocument/2006/relationships/slide" Target="/ppt/slides/slide25.xml" Id="R1a87b6ef518e488c" /><Relationship Type="http://schemas.openxmlformats.org/officeDocument/2006/relationships/slide" Target="/ppt/slides/slide26.xml" Id="Rd181f4ed657b4c85" /><Relationship Type="http://schemas.openxmlformats.org/officeDocument/2006/relationships/slide" Target="/ppt/slides/slide27.xml" Id="R25200d9453dc4d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71acfdd7e345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d351772a7d4a0f" /><Relationship Type="http://schemas.openxmlformats.org/officeDocument/2006/relationships/notesMaster" Target="/ppt/notesMasters/notesMaster1.xml" Id="R4b95d2d4c82644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5137640a114c15" /><Relationship Type="http://schemas.openxmlformats.org/officeDocument/2006/relationships/notesMaster" Target="/ppt/notesMasters/notesMaster1.xml" Id="Rcdc52c620c3d44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935ebfdcb24a41" /><Relationship Type="http://schemas.openxmlformats.org/officeDocument/2006/relationships/notesMaster" Target="/ppt/notesMasters/notesMaster1.xml" Id="Raf7ed0a03b074d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c0271296c64021" /><Relationship Type="http://schemas.openxmlformats.org/officeDocument/2006/relationships/notesMaster" Target="/ppt/notesMasters/notesMaster1.xml" Id="R1cd2cb8e7a1c4f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9cf95d5d9b4578" /><Relationship Type="http://schemas.openxmlformats.org/officeDocument/2006/relationships/notesMaster" Target="/ppt/notesMasters/notesMaster1.xml" Id="R59960b22811742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94b1d448c344fa" /><Relationship Type="http://schemas.openxmlformats.org/officeDocument/2006/relationships/notesMaster" Target="/ppt/notesMasters/notesMaster1.xml" Id="Recec0dd94b0a44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5c2038c52f4f0e" /><Relationship Type="http://schemas.openxmlformats.org/officeDocument/2006/relationships/notesMaster" Target="/ppt/notesMasters/notesMaster1.xml" Id="R15ce2579241248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4072556f3448b7" /><Relationship Type="http://schemas.openxmlformats.org/officeDocument/2006/relationships/notesMaster" Target="/ppt/notesMasters/notesMaster1.xml" Id="R535b18fd287646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d01af0688e4e28" /><Relationship Type="http://schemas.openxmlformats.org/officeDocument/2006/relationships/notesMaster" Target="/ppt/notesMasters/notesMaster1.xml" Id="Rba06b79ebaf140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c3803855f54a35" /><Relationship Type="http://schemas.openxmlformats.org/officeDocument/2006/relationships/notesMaster" Target="/ppt/notesMasters/notesMaster1.xml" Id="Re9aa9429c1c846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f3a593000944d0" /><Relationship Type="http://schemas.openxmlformats.org/officeDocument/2006/relationships/notesMaster" Target="/ppt/notesMasters/notesMaster1.xml" Id="R6b99b656657344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54c23fd0c340b8" /><Relationship Type="http://schemas.openxmlformats.org/officeDocument/2006/relationships/notesMaster" Target="/ppt/notesMasters/notesMaster1.xml" Id="Ra19fa86f74d14c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b32320e006467d" /><Relationship Type="http://schemas.openxmlformats.org/officeDocument/2006/relationships/notesMaster" Target="/ppt/notesMasters/notesMaster1.xml" Id="Ra63168d69be74c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b3a28059a04190" /><Relationship Type="http://schemas.openxmlformats.org/officeDocument/2006/relationships/notesMaster" Target="/ppt/notesMasters/notesMaster1.xml" Id="Rc72002ce53fa47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0d2391e6004343" /><Relationship Type="http://schemas.openxmlformats.org/officeDocument/2006/relationships/notesMaster" Target="/ppt/notesMasters/notesMaster1.xml" Id="R304f13ee97b942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942e5c06544f0e" /><Relationship Type="http://schemas.openxmlformats.org/officeDocument/2006/relationships/notesMaster" Target="/ppt/notesMasters/notesMaster1.xml" Id="Rbb8e6830371642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4d26a2b8d84b2e" /><Relationship Type="http://schemas.openxmlformats.org/officeDocument/2006/relationships/notesMaster" Target="/ppt/notesMasters/notesMaster1.xml" Id="Rd433a5f0646f4b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169045b4004264" /><Relationship Type="http://schemas.openxmlformats.org/officeDocument/2006/relationships/notesMaster" Target="/ppt/notesMasters/notesMaster1.xml" Id="Rdf4a2c86182d4c5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ec6ecb1ccfe463c" /><Relationship Type="http://schemas.openxmlformats.org/officeDocument/2006/relationships/notesMaster" Target="/ppt/notesMasters/notesMaster1.xml" Id="Rf1dc64b6e1e34d5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32fd06948e4c7e" /><Relationship Type="http://schemas.openxmlformats.org/officeDocument/2006/relationships/notesMaster" Target="/ppt/notesMasters/notesMaster1.xml" Id="R5088273524144c2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7b0dfca3e094e52" /><Relationship Type="http://schemas.openxmlformats.org/officeDocument/2006/relationships/notesMaster" Target="/ppt/notesMasters/notesMaster1.xml" Id="R841995546b384e8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eb500a43ac0456a" /><Relationship Type="http://schemas.openxmlformats.org/officeDocument/2006/relationships/notesMaster" Target="/ppt/notesMasters/notesMaster1.xml" Id="R567dca83deb648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2e43017f7d4d19" /><Relationship Type="http://schemas.openxmlformats.org/officeDocument/2006/relationships/notesMaster" Target="/ppt/notesMasters/notesMaster1.xml" Id="Rc14a9f53ee414de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9f1c869cc864249" /><Relationship Type="http://schemas.openxmlformats.org/officeDocument/2006/relationships/notesMaster" Target="/ppt/notesMasters/notesMaster1.xml" Id="Re7d10d7c7a70422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ba3421dd8b4b36" /><Relationship Type="http://schemas.openxmlformats.org/officeDocument/2006/relationships/notesMaster" Target="/ppt/notesMasters/notesMaster1.xml" Id="Rf68354c6b645489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50884acd7104bad" /><Relationship Type="http://schemas.openxmlformats.org/officeDocument/2006/relationships/notesMaster" Target="/ppt/notesMasters/notesMaster1.xml" Id="R83a26617341f4d4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edc7b7dfd254411" /><Relationship Type="http://schemas.openxmlformats.org/officeDocument/2006/relationships/notesMaster" Target="/ppt/notesMasters/notesMaster1.xml" Id="R4b5f6fb9569b46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0:00-0:02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Open kort. Verbind de training aan het schoolmotto: nieuwsgierigheid én kritisch denken. Zeg dat AI vandaag wordt behandeld als assistent, niet als autopilot.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Vraag om laptops dicht te laten tot de eerste oefening.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https://www.gymnasiumleiden.nl/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0:02-0:05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Loop de drie opbrengsten langs. AI-geletterdheid betekent niet alleen kunnen prompten, maar ook risico's begrijpen en passend handelen.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Laat deelnemers één opbrengst kiezen die voor hen vandaag het belangrijkst 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https://eur-lex.europa.eu/eli/reg/2024/1689/oj?locale=nl</a:t>
            </a:r>
          </a:p>
          <a:p xmlns:a="http://schemas.openxmlformats.org/drawingml/2006/main">
            <a:r>
              <a:t>- https://www.kennisnet.nl/artificial-intelligence/werken-aan-ai-geletterdheid-op-school/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0:05-0:08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Leg de route uit. De cursus wisselt korte uitleg en direct toepassen af.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Benoem de pauze van vijf minuten.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0:08-0:10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Laat deelnemers een concrete taak kiezen. Stuur weg van vage doelen als 'iets met AI'.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60 seconden schrijven, 60 seconden duo-uitwisseling.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0:10-0:14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Gebruik de metafoor van een extreem ervaren aanvuller. Het model kan overtuigend klinken terwijl bronnen, redenering of details niet kloppen.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Vraag één deelnemer om een voorbeeld van overtuigend foutieve AI-output.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0:14-0:18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De praktische grens: laat AI opties of bewijsstructuur maken, maar niet zelfstandig besluiten over leerlingen nemen.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Laat deelnemers hun gekozen tijdlek onder 'sterke' of 'zwakke' rol plaatsen.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0:18-0:22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Geen magische formule: de kwaliteit komt vooral van helder leerdoel, relevante bron en expliciete controle.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Laat deelnemers de zes woorden hardop meelezen.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0:22-0:25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Vraag wat de AI in de linkerprompt gedwongen is te raden. Leg uit dat elke gok later controlewerk wordt.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Laat de groep één ontbrekend criterium toevoegen.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0:25-0:29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Voer de demo uit met de prompt uit de trainershandleiding. Laat één fout of twijfel zichtbaar staan; corrigeer niet alles vooraf.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Vraag deelnemers hardop welke controle ze als docent nog moeten doen.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0:29-0:34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Leg uit dat ook indirecte details iemand herkenbaar kunnen maken. Een goedgekeurde tool en centrale accountinstellingen blijven nodig, ook als de prompt zelf weinig gegevens bevat.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Laat drie voorbeelden uit de zaal in groen, oranje of rood plaatsen.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https://www.kennisnet.nl/artificial-intelligence/privacy-en-ai-hier-moeten-scholen-op-letten/</a:t>
            </a:r>
          </a:p>
          <a:p xmlns:a="http://schemas.openxmlformats.org/drawingml/2006/main">
            <a:r>
              <a:t>- https://www.autoriteitpersoonsgegevens.nl/en/node/266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0:34-0:40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Introduceer K.L.O.P.T. als vaste laatste stap. Het acroniem staat ook in het werkboek en de SOP.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Laat iedereen K.L.O.P.T. bij zijn eerste oefenoutput gebruiken.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0:40-0:43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Deel de opdracht uit. Duo's mogen eigen materiaal gebruiken zolang het geen gevoelige of beveiligde data bevat.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Open het werkboek op Hands-on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0:43-0:47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Zet duo's aan het werk. Herinner ze eraan dat AI eerst de matrijs moet maken.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Loop rond en vraag welk leerdoel elke vraag daadwerkelijk meet.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0:47-1:00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Laat de prompt zichtbaar staan. Help alleen wanneer duo's vastlopen; stuur steeds terug naar leerdoel, bron en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Na 8 minuten: kondig aan dat iedereen nu de eerste output met K.L.O.P.T. controleert.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1:00-1:05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Nabespreking: verzamel drie concrete reparaties, geen algemene toolreviews.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Laat elk duo één reparatie noteren in het werkboek.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1:05-1:10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Echte pauze. Vraag deelnemers bij terugkomst één observatie met een buur te delen.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Zet een timer op vijf minuten.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1:10-1:14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Introduceer de tweede-lezerworkflow. Het doel is consistentie en bewijs, niet het uitbesteden van professionele verantwoordelijkheid.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Open Hands-on 2 in het werkboek.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1:14-1:19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Voer de prompt uit op het fictieve leerlingantwoord. Laat de groep eerst zelf één rubriccriterium beoordelen.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Vergelijk menselijk oordeel en AI-voorstel.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1:19-1:25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Leg uit dat menselijke controle actief teruggaat naar bewijs en criteria. Benoem de harde grens voor centrale examens.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Vraag waar deelnemers bij hun eigen vak de meeste beoordelingsambiguïteit verwachten.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https://www.vo-raad.nl/nieuws/vo-raad-geen-ai-bij-nakijken-centraal-examens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1:25-1:30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Wees expliciet: geen enkel stijlkenmerk bewijst AI-gebruik. Onderzoek toont aanzienlijke foutpositieven bij niet-moedertaalsprekers in meerdere detectoren.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Vraag welke schade een onterechte beschuldiging kan veroorzaken.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https://pmc.ncbi.nlm.nih.gov/articles/PMC10382961/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1:30-1:34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Loop de vijf stappen door. Koppel aan bestaande schoolprocedures; deze training introduceert geen nieuw sanctieregime.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Laat deelnemers één neutrale vraag formuleren.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1:34-1:40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Benadruk dat robuust toetsontwerp proces en begrip zichtbaar maakt. Niet iedere opdracht hoeft volledig AI-vrij te zijn.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Laat deelnemers één bestaand toetsmoment procesrijker maken.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1:40-1:45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Bespreek de casus in duo's. Gewenst: bronnen controleren, neutraal gesprek, procesbewijs, hoor en wederhoor; niet automatisch sanctioneren op detectoruitslag.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Twee minuten duo's, drie minuten plenair.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1:45-1:49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Introduceer de meegeleverde concept-SOP. De school moet toolkeuze, rollen en escalatiepunten nog vaststellen.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Laat deelnemers benoemen welk schoolbesluit nu het meest urgent 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https://www.kennisnet.nl/artificial-intelligence/schoolafspraken-over-het-gebruik-van-generatieve-ai/</a:t>
            </a:r>
          </a:p>
          <a:p xmlns:a="http://schemas.openxmlformats.org/drawingml/2006/main">
            <a:r>
              <a:t>- https://www.kennisnet.nl/artificial-intelligence/privacy-en-ai-hier-moeten-scholen-op-letten/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1:49-1:54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Loop de SOP snel door. Het stopmoment is belangrijker dan perfecte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Laat deelnemers hun gekozen workflow door de zes stappen halen.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1:54-1:57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Laat iedereen het invulblad in het werkboek afronden. Dit is de persoonlijke transfer naar de praktijk.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Na twee minuten: laat de buur één risico zoeken.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1:57-2:00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Spreektekst / aandachtspunten:</a:t>
            </a:r>
          </a:p>
          <a:p xmlns:a="http://schemas.openxmlformats.org/drawingml/2006/main">
            <a:r>
              <a:t>Laat deelnemers hun 48-uursactie aan een buur noemen. Sluit af met de drie rode lijnen op de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Actie / interactie:</a:t>
            </a:r>
          </a:p>
          <a:p xmlns:a="http://schemas.openxmlformats.org/drawingml/2006/main">
            <a:r>
              <a:t>Vraag om één zin: wat ga je testen en hoe controleer je het?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Geen externe bron; cursusinstructie of eigen werkvorm.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5e7e354f346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31adc772464df2" /><Relationship Type="http://schemas.openxmlformats.org/officeDocument/2006/relationships/slideLayout" Target="/ppt/slideLayouts/slideLayout1.xml" Id="R203c9898a81e46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3c9898a81e46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15b1344fa4359" /><Relationship Type="http://schemas.openxmlformats.org/officeDocument/2006/relationships/notesSlide" Target="/ppt/notesSlides/notesSlide1.xml" Id="R32124fbedc3f46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208e673934e27" /><Relationship Type="http://schemas.openxmlformats.org/officeDocument/2006/relationships/notesSlide" Target="/ppt/notesSlides/notesSlide2.xml" Id="R60df3fdebbc144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0c45de22b468f" /><Relationship Type="http://schemas.openxmlformats.org/officeDocument/2006/relationships/notesSlide" Target="/ppt/notesSlides/notesSlide3.xml" Id="R93559a3f0c0d4a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cb08b6c644c4e" /><Relationship Type="http://schemas.openxmlformats.org/officeDocument/2006/relationships/notesSlide" Target="/ppt/notesSlides/notesSlide4.xml" Id="R2d265d2ef41e4d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16435a2444e11" /><Relationship Type="http://schemas.openxmlformats.org/officeDocument/2006/relationships/notesSlide" Target="/ppt/notesSlides/notesSlide5.xml" Id="R679ae364d85947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649afe22a4419" /><Relationship Type="http://schemas.openxmlformats.org/officeDocument/2006/relationships/notesSlide" Target="/ppt/notesSlides/notesSlide6.xml" Id="R686185a1127244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b63e3848346c1" /><Relationship Type="http://schemas.openxmlformats.org/officeDocument/2006/relationships/notesSlide" Target="/ppt/notesSlides/notesSlide7.xml" Id="R38e6d4886e694d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27785e73f47ef" /><Relationship Type="http://schemas.openxmlformats.org/officeDocument/2006/relationships/notesSlide" Target="/ppt/notesSlides/notesSlide8.xml" Id="R41d4be4d9ac045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7bb7fe5514492" /><Relationship Type="http://schemas.openxmlformats.org/officeDocument/2006/relationships/notesSlide" Target="/ppt/notesSlides/notesSlide9.xml" Id="Rcbd411c9c85e4a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9d20c2fc541a8" /><Relationship Type="http://schemas.openxmlformats.org/officeDocument/2006/relationships/notesSlide" Target="/ppt/notesSlides/notesSlide10.xml" Id="R944e9315e59241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b5582da754ff9" /><Relationship Type="http://schemas.openxmlformats.org/officeDocument/2006/relationships/notesSlide" Target="/ppt/notesSlides/notesSlide11.xml" Id="R5a91812e84b44e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3adca0c974073" /><Relationship Type="http://schemas.openxmlformats.org/officeDocument/2006/relationships/notesSlide" Target="/ppt/notesSlides/notesSlide12.xml" Id="R651924257aef4d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f94edd4634a56" /><Relationship Type="http://schemas.openxmlformats.org/officeDocument/2006/relationships/notesSlide" Target="/ppt/notesSlides/notesSlide13.xml" Id="R849c3c310b194c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e91ec1a254184" /><Relationship Type="http://schemas.openxmlformats.org/officeDocument/2006/relationships/notesSlide" Target="/ppt/notesSlides/notesSlide14.xml" Id="Rd3f1126ed4844a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c8c952ad34947" /><Relationship Type="http://schemas.openxmlformats.org/officeDocument/2006/relationships/notesSlide" Target="/ppt/notesSlides/notesSlide15.xml" Id="Rb928f58c224943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b8652353041a4" /><Relationship Type="http://schemas.openxmlformats.org/officeDocument/2006/relationships/notesSlide" Target="/ppt/notesSlides/notesSlide16.xml" Id="R30aceb7a6cc341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d61b0ee05456d" /><Relationship Type="http://schemas.openxmlformats.org/officeDocument/2006/relationships/notesSlide" Target="/ppt/notesSlides/notesSlide17.xml" Id="Rbe8f06c5abb2477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b861414db4082" /><Relationship Type="http://schemas.openxmlformats.org/officeDocument/2006/relationships/notesSlide" Target="/ppt/notesSlides/notesSlide18.xml" Id="Rbda6422ee2084b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63c205bb8462f" /><Relationship Type="http://schemas.openxmlformats.org/officeDocument/2006/relationships/notesSlide" Target="/ppt/notesSlides/notesSlide19.xml" Id="Rf3d4f8d323544c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742a8f0a24d8e" /><Relationship Type="http://schemas.openxmlformats.org/officeDocument/2006/relationships/notesSlide" Target="/ppt/notesSlides/notesSlide20.xml" Id="R1902669451a74cd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2930867074e42" /><Relationship Type="http://schemas.openxmlformats.org/officeDocument/2006/relationships/notesSlide" Target="/ppt/notesSlides/notesSlide21.xml" Id="R1272bf695243402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adfa97c744732" /><Relationship Type="http://schemas.openxmlformats.org/officeDocument/2006/relationships/notesSlide" Target="/ppt/notesSlides/notesSlide22.xml" Id="R1e3ad5461cef4ec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a34744eda42a1" /><Relationship Type="http://schemas.openxmlformats.org/officeDocument/2006/relationships/notesSlide" Target="/ppt/notesSlides/notesSlide23.xml" Id="Rcc28fce6899649a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6f4c8be774fae" /><Relationship Type="http://schemas.openxmlformats.org/officeDocument/2006/relationships/notesSlide" Target="/ppt/notesSlides/notesSlide24.xml" Id="R82841bed2837496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27cd9146b40f5" /><Relationship Type="http://schemas.openxmlformats.org/officeDocument/2006/relationships/notesSlide" Target="/ppt/notesSlides/notesSlide25.xml" Id="R3c12d224a7a0408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57eaed3914b7f" /><Relationship Type="http://schemas.openxmlformats.org/officeDocument/2006/relationships/notesSlide" Target="/ppt/notesSlides/notesSlide26.xml" Id="R96c5156b06284ce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d569dc3cc4913" /><Relationship Type="http://schemas.openxmlformats.org/officeDocument/2006/relationships/notesSlide" Target="/ppt/notesSlides/notesSlide27.xml" Id="Re4829803666146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5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60B28-C62F-4E9E-B9FF-66709E2F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0A5CE-DCD6-4077-8FD0-5E4648EF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A756"/>
                </a:solidFill>
              </a:defRPr>
            </a:pPr>
            <a:r>
              <a:rPr sz="1425" b="1">
                <a:solidFill>
                  <a:srgbClr val="D6A756"/>
                </a:solidFill>
              </a:rPr>
              <a:t>STEDELIJK GYMNASIUM LEIDEN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E0686-1C2A-4132-89C7-68FED84E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</a:defRPr>
            </a:pPr>
            <a:r>
              <a:rPr sz="6000" b="1">
                <a:solidFill>
                  <a:srgbClr val="FFFFFF"/>
                </a:solidFill>
              </a:rPr>
              <a:t>AI voor docenten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F1843-E3F1-4521-92A5-12ECBFAF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E9DFCF"/>
                </a:solidFill>
              </a:defRPr>
            </a:pPr>
            <a:r>
              <a:rPr sz="2550" b="0">
                <a:solidFill>
                  <a:srgbClr val="E9DFCF"/>
                </a:solidFill>
              </a:rPr>
              <a:t>Van eerste prompt naar veilig dagelijks gebruik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831D9-EA51-48AC-8B9C-253138C9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A756"/>
                </a:solidFill>
              </a:defRPr>
            </a:pPr>
            <a:r>
              <a:rPr sz="1650" b="0">
                <a:solidFill>
                  <a:srgbClr val="D6A756"/>
                </a:solidFill>
              </a:rPr>
              <a:t>2 uur • uitleg • demo • oefenen • eigen workflow</a:t>
            </a:r>
          </a:p>
        </p:txBody>
      </p:sp>
    </p:spTree>
    <p:extLst>
      <p:ext uri="{BB962C8B-B14F-4D97-AF65-F5344CB8AC3E}">
        <p14:creationId xmlns:p14="http://schemas.microsoft.com/office/powerpoint/2010/main" val="1660048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3A286-7DD1-4A88-8C8F-2D2D1F6D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START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646B842-94EF-4FA8-AEAE-2E6D350C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Na twee uur kun je dit morgen gebruiken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811F6-4B4C-42E3-8334-D0DC0D6A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D576F-BC9F-4CDF-90A9-9E2E6B69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EDEA2-CC34-4871-AFA5-9896B90A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MAKEN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40829-83D2-4D3F-8E8B-FB3B8372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Sneller starten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10C58-9CAB-4449-B8BC-103DBB88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FD802-BF72-4C3E-A727-6372A1BE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5179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Lesopzet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Toetsmatrijs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Vraagvarianten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Rubricconcept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BB58A-89B9-4E39-AC74-2E36DEB8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09550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CONTROLEREN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25CFE-253B-499F-80C9-A0B1AEDE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55270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Beter beslissen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7E0DF-38FF-4027-89DF-7705A16D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28612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AB3E1-8BC3-4367-9D02-6025325C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524250"/>
            <a:ext cx="35179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Bronnencheck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Tweede lezer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Feedbackbewijs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Biascheck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D84A1-8285-4DEA-8769-43DA95E3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09550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BEGRENZEN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52D56-86BA-4884-AABC-13458193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55270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Veilig werken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42641-A495-44F1-B6A1-DB0A030A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28612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C333C-6080-48FF-8B0D-A15A5EB7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524250"/>
            <a:ext cx="35179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Geen leerlingdata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Menselijk eindbesluit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Geen detectorvonnis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Transparant gebruik</a:t>
            </a:r>
          </a:p>
        </p:txBody>
      </p:sp>
    </p:spTree>
    <p:extLst>
      <p:ext uri="{BB962C8B-B14F-4D97-AF65-F5344CB8AC3E}">
        <p14:creationId xmlns:p14="http://schemas.microsoft.com/office/powerpoint/2010/main" val="20881800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D87161-5640-441F-A7A1-1E3EC933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ROUTE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EEEA2F7-6FED-49AA-9649-1AF1BAC2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120 minuten: begrijpen, proberen, begrenzen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548AB-3A59-4858-81E2-591BB2D4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72375-C5C2-4719-B047-3E3BDA6B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EEC14-E767-42C4-BCB2-AA31C7FF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B1F2A"/>
                </a:solidFill>
              </a:defRPr>
            </a:pPr>
            <a:r>
              <a:rPr sz="2025" b="1">
                <a:solidFill>
                  <a:srgbClr val="6B1F2A"/>
                </a:solidFill>
              </a:rPr>
              <a:t>0-25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7E842-F808-4660-BE16-875146FA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431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C8778-E1CA-4BD9-A7D5-746D5E58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3357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22C"/>
                </a:solidFill>
              </a:defRPr>
            </a:pPr>
            <a:r>
              <a:rPr sz="2250" b="1">
                <a:solidFill>
                  <a:srgbClr val="17222C"/>
                </a:solidFill>
              </a:rPr>
              <a:t>Begrijpen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DF453-C1A8-40A5-B327-81FFDEF2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Wat AI doet en waar het misgaat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F83B5-16A3-49B1-BD83-6AE72212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B1F2A"/>
                </a:solidFill>
              </a:defRPr>
            </a:pPr>
            <a:r>
              <a:rPr sz="2025" b="1">
                <a:solidFill>
                  <a:srgbClr val="6B1F2A"/>
                </a:solidFill>
              </a:rPr>
              <a:t>25-65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2701D-928A-4EFE-B7BF-FE049E1A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813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9EFAA-DA04-4662-AFCB-3A58BBC8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22C"/>
                </a:solidFill>
              </a:defRPr>
            </a:pPr>
            <a:r>
              <a:rPr sz="2250" b="1">
                <a:solidFill>
                  <a:srgbClr val="17222C"/>
                </a:solidFill>
              </a:rPr>
              <a:t>Maken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AC9AC-77C9-49F4-9CC9-C3A27C19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908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Prompten + mini-toets bouwen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89F28-6726-4722-9138-1BFD8FBB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B1F2A"/>
                </a:solidFill>
              </a:defRPr>
            </a:pPr>
            <a:r>
              <a:rPr sz="2025" b="1">
                <a:solidFill>
                  <a:srgbClr val="6B1F2A"/>
                </a:solidFill>
              </a:rPr>
              <a:t>65-90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4F131-1173-47ED-A4E8-36BDF3FC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95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C135B-9F76-4470-93AF-7B7CBDC3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0997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22C"/>
                </a:solidFill>
              </a:defRPr>
            </a:pPr>
            <a:r>
              <a:rPr sz="2250" b="1">
                <a:solidFill>
                  <a:srgbClr val="17222C"/>
                </a:solidFill>
              </a:rPr>
              <a:t>Controleren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476C8-6C81-4298-9567-D776592A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290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Pauze + feedback als tweede lezer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A0E27-C29D-4C0A-A94C-FCC5E1D7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B1F2A"/>
                </a:solidFill>
              </a:defRPr>
            </a:pPr>
            <a:r>
              <a:rPr sz="2025" b="1">
                <a:solidFill>
                  <a:srgbClr val="6B1F2A"/>
                </a:solidFill>
              </a:rPr>
              <a:t>90-105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BD298-2249-4C8E-A98D-5825F5DD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577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60274-BB2F-4D0C-8147-0930632E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4817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22C"/>
                </a:solidFill>
              </a:defRPr>
            </a:pPr>
            <a:r>
              <a:rPr sz="2250" b="1">
                <a:solidFill>
                  <a:srgbClr val="17222C"/>
                </a:solidFill>
              </a:rPr>
              <a:t>Onderzoeken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D32C2-FB33-4246-91CD-F1DAD01E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672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AI-signalen zonder detectorvonnis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C5E24-ABD3-4A4E-A8D1-1EE083F9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B1F2A"/>
                </a:solidFill>
              </a:defRPr>
            </a:pPr>
            <a:r>
              <a:rPr sz="2025" b="1">
                <a:solidFill>
                  <a:srgbClr val="6B1F2A"/>
                </a:solidFill>
              </a:rPr>
              <a:t>105-120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EC8FF6-1D6A-496F-973E-A9D66A21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959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201B6-E1F3-4695-8A38-49A45B72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8637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22C"/>
                </a:solidFill>
              </a:defRPr>
            </a:pPr>
            <a:r>
              <a:rPr sz="2250" b="1">
                <a:solidFill>
                  <a:srgbClr val="17222C"/>
                </a:solidFill>
              </a:rPr>
              <a:t>Borgen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8F9D3-049A-4C9C-804F-CE4491D5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054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Eigen workflow + school-SOP</a:t>
            </a:r>
          </a:p>
        </p:txBody>
      </p:sp>
    </p:spTree>
    <p:extLst>
      <p:ext uri="{BB962C8B-B14F-4D97-AF65-F5344CB8AC3E}">
        <p14:creationId xmlns:p14="http://schemas.microsoft.com/office/powerpoint/2010/main" val="409723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3B314-0BD1-4867-9BFA-9FA98DB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NULMETING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C31305E-8604-48B8-AA74-E6D0F980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Begin bij jouw echte tijdlek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D8927-2A07-465B-BAA4-18EAA1F5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74112-75E2-4AF4-AFE4-1FF6D98A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33E85-579C-435D-98A2-98A34884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22C"/>
                </a:solidFill>
              </a:defRPr>
            </a:pPr>
            <a:r>
              <a:rPr sz="3225" b="1">
                <a:solidFill>
                  <a:srgbClr val="17222C"/>
                </a:solidFill>
              </a:rPr>
              <a:t>Welke docenttaak kost veel tijd,</a:t>
            </a:r>
          </a:p>
          <a:p xmlns:a="http://schemas.openxmlformats.org/drawingml/2006/main">
            <a:pPr algn="l">
              <a:defRPr sz="3225" b="1">
                <a:solidFill>
                  <a:srgbClr val="17222C"/>
                </a:solidFill>
              </a:defRPr>
            </a:pPr>
            <a:r>
              <a:rPr sz="3225" b="1">
                <a:solidFill>
                  <a:srgbClr val="17222C"/>
                </a:solidFill>
              </a:rPr>
              <a:t>maar vraagt niet elke seconde jouw unieke oordeel?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0A877-FEF6-4482-B4A0-B336170B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28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0">
            <a:solidFill>
              <a:srgbClr val="EEE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4955F-1B16-49F0-AACB-8366F49A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B1F2A"/>
                </a:solidFill>
              </a:defRPr>
            </a:pPr>
            <a:r>
              <a:rPr sz="2100" b="1">
                <a:solidFill>
                  <a:srgbClr val="6B1F2A"/>
                </a:solidFill>
              </a:rPr>
              <a:t>Schrijf 1 taak op → deel met je buur → markeer: concept, controle of besluit</a:t>
            </a:r>
          </a:p>
        </p:txBody>
      </p:sp>
    </p:spTree>
    <p:extLst>
      <p:ext uri="{BB962C8B-B14F-4D97-AF65-F5344CB8AC3E}">
        <p14:creationId xmlns:p14="http://schemas.microsoft.com/office/powerpoint/2010/main" val="3955642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EE3A4-FB7D-4CFB-A13F-AB7E9976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BASIS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9007551-A9CB-49F3-8592-BA278A7E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AI voorspelt plausibele tekst — geen waarheid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FD1A1-5098-4519-BFCA-C52D5A71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BC323-1465-4454-8D94-786084BD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1F672-B91C-480E-833C-D32E8DCD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1F2A"/>
                </a:solidFill>
              </a:defRPr>
            </a:pPr>
            <a:r>
              <a:rPr sz="1650" b="1">
                <a:solidFill>
                  <a:srgbClr val="6B1F2A"/>
                </a:solidFill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20519-82FD-4508-ABBE-885F5F15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66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E7EE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B7781-3809-4A00-858B-7BA2C92E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95625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C7D"/>
                </a:solidFill>
              </a:defRPr>
            </a:pPr>
            <a:r>
              <a:rPr sz="1875" b="1">
                <a:solidFill>
                  <a:srgbClr val="315C7D"/>
                </a:solidFill>
              </a:rPr>
              <a:t>doel + context</a:t>
            </a:r>
          </a:p>
          <a:p xmlns:a="http://schemas.openxmlformats.org/drawingml/2006/main">
            <a:pPr algn="l">
              <a:defRPr sz="1875" b="1">
                <a:solidFill>
                  <a:srgbClr val="315C7D"/>
                </a:solidFill>
              </a:defRPr>
            </a:pPr>
            <a:r>
              <a:rPr sz="1875" b="1">
                <a:solidFill>
                  <a:srgbClr val="315C7D"/>
                </a:solidFill>
              </a:rPr>
              <a:t>+ bron + criteria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1D8C5-7C93-4538-B375-C5B1A9F2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7657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D6A756"/>
                </a:solidFill>
              </a:defRPr>
            </a:pPr>
            <a:r>
              <a:rPr sz="4050" b="1">
                <a:solidFill>
                  <a:srgbClr val="D6A75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447B7-C38D-447D-9D5C-E7FD2B09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90750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A5B95-163E-4C38-BDFD-AC946560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71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TAALMODEL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8D25B-DDFE-484C-A3AD-DEB91296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908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9DFCF"/>
                </a:solidFill>
              </a:defRPr>
            </a:pPr>
            <a:r>
              <a:rPr sz="1725" b="0">
                <a:solidFill>
                  <a:srgbClr val="E9DFCF"/>
                </a:solidFill>
              </a:rPr>
              <a:t>zoekt patronen</a:t>
            </a:r>
          </a:p>
          <a:p xmlns:a="http://schemas.openxmlformats.org/drawingml/2006/main">
            <a:pPr algn="ctr">
              <a:defRPr sz="1725" b="0">
                <a:solidFill>
                  <a:srgbClr val="E9DFCF"/>
                </a:solidFill>
              </a:defRPr>
            </a:pPr>
            <a:r>
              <a:rPr sz="1725" b="0">
                <a:solidFill>
                  <a:srgbClr val="E9DFCF"/>
                </a:solidFill>
              </a:rPr>
              <a:t>voorspelt vervolg</a:t>
            </a:r>
          </a:p>
          <a:p xmlns:a="http://schemas.openxmlformats.org/drawingml/2006/main">
            <a:pPr algn="ctr">
              <a:defRPr sz="1725" b="0">
                <a:solidFill>
                  <a:srgbClr val="E9DFCF"/>
                </a:solidFill>
              </a:defRPr>
            </a:pPr>
            <a:r>
              <a:rPr sz="1725" b="0">
                <a:solidFill>
                  <a:srgbClr val="E9DFCF"/>
                </a:solidFill>
              </a:rPr>
              <a:t>kent jouw context niet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8A778-A2AA-43AA-9366-7867DB02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7657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D6A756"/>
                </a:solidFill>
              </a:defRPr>
            </a:pPr>
            <a:r>
              <a:rPr sz="4050" b="1">
                <a:solidFill>
                  <a:srgbClr val="D6A756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91494-148C-4E21-BA8F-4D6D6D42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0">
            <a:solidFill>
              <a:srgbClr val="FFF1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0A27F-6319-4D73-B8B9-D6D40A90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95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65F16"/>
                </a:solidFill>
              </a:defRPr>
            </a:pPr>
            <a:r>
              <a:rPr sz="1875" b="1">
                <a:solidFill>
                  <a:srgbClr val="A65F16"/>
                </a:solidFill>
              </a:rPr>
              <a:t>plausibele output</a:t>
            </a:r>
          </a:p>
          <a:p xmlns:a="http://schemas.openxmlformats.org/drawingml/2006/main">
            <a:pPr algn="ctr">
              <a:defRPr sz="1875" b="1">
                <a:solidFill>
                  <a:srgbClr val="A65F16"/>
                </a:solidFill>
              </a:defRPr>
            </a:pPr>
            <a:r>
              <a:rPr sz="1875" b="1">
                <a:solidFill>
                  <a:srgbClr val="A65F16"/>
                </a:solidFill>
              </a:rPr>
              <a:t>+ onzekerheid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50F60-C3A0-4401-B426-60E1D88F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863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B1F2A"/>
                </a:solidFill>
              </a:defRPr>
            </a:pPr>
            <a:r>
              <a:rPr sz="2550" b="1">
                <a:solidFill>
                  <a:srgbClr val="6B1F2A"/>
                </a:solidFill>
              </a:rPr>
              <a:t>Jij controleert: klopt het, past het, mag het?</a:t>
            </a:r>
          </a:p>
        </p:txBody>
      </p:sp>
    </p:spTree>
    <p:extLst>
      <p:ext uri="{BB962C8B-B14F-4D97-AF65-F5344CB8AC3E}">
        <p14:creationId xmlns:p14="http://schemas.microsoft.com/office/powerpoint/2010/main" val="1082709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705C4-1CEE-4598-9C67-A3A99B3A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KANSEN EN GRENZEN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589BE16C-57BC-449C-979D-055950C2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Zet AI in waar varianten goedkoop zijn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84DC4-111D-4668-AB40-7740FCCD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121AB-F9B7-4A9E-86FD-59F22ECA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96FF2-3084-4983-820D-FDCF16B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94B37-78E8-45B7-8353-81AE6CF1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456B4-A41D-48F2-8345-AA65C368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1F2A"/>
                </a:solidFill>
              </a:defRPr>
            </a:pPr>
            <a:r>
              <a:rPr sz="2325" b="1">
                <a:solidFill>
                  <a:srgbClr val="6B1F2A"/>
                </a:solidFill>
              </a:rPr>
              <a:t>Sterke rollen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CFA93-DD59-40A9-8638-2CD7D3B4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24175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22C"/>
                </a:solidFill>
              </a:defRPr>
            </a:pPr>
            <a:r>
              <a:rPr sz="2025" b="0">
                <a:solidFill>
                  <a:srgbClr val="17222C"/>
                </a:solidFill>
              </a:rPr>
              <a:t>• brainstormer</a:t>
            </a:r>
          </a:p>
          <a:p xmlns:a="http://schemas.openxmlformats.org/drawingml/2006/main">
            <a:pPr algn="l">
              <a:defRPr sz="2025" b="0">
                <a:solidFill>
                  <a:srgbClr val="17222C"/>
                </a:solidFill>
              </a:defRPr>
            </a:pPr>
            <a:r>
              <a:rPr sz="2025" b="0">
                <a:solidFill>
                  <a:srgbClr val="17222C"/>
                </a:solidFill>
              </a:rPr>
              <a:t>• eerste versie</a:t>
            </a:r>
          </a:p>
          <a:p xmlns:a="http://schemas.openxmlformats.org/drawingml/2006/main">
            <a:pPr algn="l">
              <a:defRPr sz="2025" b="0">
                <a:solidFill>
                  <a:srgbClr val="17222C"/>
                </a:solidFill>
              </a:defRPr>
            </a:pPr>
            <a:r>
              <a:rPr sz="2025" b="0">
                <a:solidFill>
                  <a:srgbClr val="17222C"/>
                </a:solidFill>
              </a:rPr>
              <a:t>• variantenmaker</a:t>
            </a:r>
          </a:p>
          <a:p xmlns:a="http://schemas.openxmlformats.org/drawingml/2006/main">
            <a:pPr algn="l">
              <a:defRPr sz="2025" b="0">
                <a:solidFill>
                  <a:srgbClr val="17222C"/>
                </a:solidFill>
              </a:defRPr>
            </a:pPr>
            <a:r>
              <a:rPr sz="2025" b="0">
                <a:solidFill>
                  <a:srgbClr val="17222C"/>
                </a:solidFill>
              </a:rPr>
              <a:t>• samenvatter</a:t>
            </a:r>
          </a:p>
          <a:p xmlns:a="http://schemas.openxmlformats.org/drawingml/2006/main">
            <a:pPr algn="l">
              <a:defRPr sz="2025" b="0">
                <a:solidFill>
                  <a:srgbClr val="17222C"/>
                </a:solidFill>
              </a:defRPr>
            </a:pPr>
            <a:r>
              <a:rPr sz="2025" b="0">
                <a:solidFill>
                  <a:srgbClr val="17222C"/>
                </a:solidFill>
              </a:rPr>
              <a:t>• kritische tweede lezer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B4FFD-8F32-42F8-BF2A-19291A5F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955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1F2A"/>
                </a:solidFill>
              </a:defRPr>
            </a:pPr>
            <a:r>
              <a:rPr sz="2325" b="1">
                <a:solidFill>
                  <a:srgbClr val="6B1F2A"/>
                </a:solidFill>
              </a:rPr>
              <a:t>Zwakke rollen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A5F42-0CC1-4632-8A7A-05666D5A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22C"/>
                </a:solidFill>
              </a:defRPr>
            </a:pPr>
            <a:r>
              <a:rPr sz="2025" b="0">
                <a:solidFill>
                  <a:srgbClr val="17222C"/>
                </a:solidFill>
              </a:rPr>
              <a:t>• bron van waarheid</a:t>
            </a:r>
          </a:p>
          <a:p xmlns:a="http://schemas.openxmlformats.org/drawingml/2006/main">
            <a:pPr algn="l">
              <a:defRPr sz="2025" b="0">
                <a:solidFill>
                  <a:srgbClr val="17222C"/>
                </a:solidFill>
              </a:defRPr>
            </a:pPr>
            <a:r>
              <a:rPr sz="2025" b="0">
                <a:solidFill>
                  <a:srgbClr val="17222C"/>
                </a:solidFill>
              </a:rPr>
              <a:t>• autonome beoordelaar</a:t>
            </a:r>
          </a:p>
          <a:p xmlns:a="http://schemas.openxmlformats.org/drawingml/2006/main">
            <a:pPr algn="l">
              <a:defRPr sz="2025" b="0">
                <a:solidFill>
                  <a:srgbClr val="17222C"/>
                </a:solidFill>
              </a:defRPr>
            </a:pPr>
            <a:r>
              <a:rPr sz="2025" b="0">
                <a:solidFill>
                  <a:srgbClr val="17222C"/>
                </a:solidFill>
              </a:rPr>
              <a:t>• beslisser over leerlingen</a:t>
            </a:r>
          </a:p>
          <a:p xmlns:a="http://schemas.openxmlformats.org/drawingml/2006/main">
            <a:pPr algn="l">
              <a:defRPr sz="2025" b="0">
                <a:solidFill>
                  <a:srgbClr val="17222C"/>
                </a:solidFill>
              </a:defRPr>
            </a:pPr>
            <a:r>
              <a:rPr sz="2025" b="0">
                <a:solidFill>
                  <a:srgbClr val="17222C"/>
                </a:solidFill>
              </a:rPr>
              <a:t>• detector van intentie</a:t>
            </a:r>
          </a:p>
          <a:p xmlns:a="http://schemas.openxmlformats.org/drawingml/2006/main">
            <a:pPr algn="l">
              <a:defRPr sz="2025" b="0">
                <a:solidFill>
                  <a:srgbClr val="17222C"/>
                </a:solidFill>
              </a:defRPr>
            </a:pPr>
            <a:r>
              <a:rPr sz="2025" b="0">
                <a:solidFill>
                  <a:srgbClr val="17222C"/>
                </a:solidFill>
              </a:rPr>
              <a:t>• beheerder van gevoelige data</a:t>
            </a:r>
          </a:p>
        </p:txBody>
      </p:sp>
    </p:spTree>
    <p:extLst>
      <p:ext uri="{BB962C8B-B14F-4D97-AF65-F5344CB8AC3E}">
        <p14:creationId xmlns:p14="http://schemas.microsoft.com/office/powerpoint/2010/main" val="16459162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AAA6E-D286-4A44-85EB-F33D5FB4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PROMPTEN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05CFFB18-5E3E-4CEC-BE78-70D4A5A4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Een goede prompt is een compacte opdrachtbrief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C66BD-C464-44B8-9222-67C1802E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D1999-E7C0-41B6-80DD-A6495C1B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642B9-7A63-4DCD-B132-28B9AED7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A756"/>
                </a:solidFill>
              </a:defRPr>
            </a:pPr>
            <a:r>
              <a:rPr sz="1875" b="1">
                <a:solidFill>
                  <a:srgbClr val="D6A756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49C6B-29F1-40A0-ACD0-2C691B5E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05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1F2A"/>
                </a:solidFill>
              </a:defRPr>
            </a:pPr>
            <a:r>
              <a:rPr sz="1875" b="1">
                <a:solidFill>
                  <a:srgbClr val="6B1F2A"/>
                </a:solidFill>
              </a:rPr>
              <a:t>DOEL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F9090-31AE-49FF-9608-B3ADFA08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Wat moet er ontstaan?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28DEF-058E-4086-A081-C892D006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A756"/>
                </a:solidFill>
              </a:defRPr>
            </a:pPr>
            <a:r>
              <a:rPr sz="1875" b="1">
                <a:solidFill>
                  <a:srgbClr val="D6A75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36AE4-6CFE-4D9F-A037-44869D6A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71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1F2A"/>
                </a:solidFill>
              </a:defRPr>
            </a:pPr>
            <a:r>
              <a:rPr sz="1875" b="1">
                <a:solidFill>
                  <a:srgbClr val="6B1F2A"/>
                </a:solidFill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E7870-F419-45AD-83F7-5E5491CF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Vak, klas, leerdoel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8AC83-A4F5-4EF0-A7B7-AA4E20F8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A756"/>
                </a:solidFill>
              </a:defRPr>
            </a:pPr>
            <a:r>
              <a:rPr sz="1875" b="1">
                <a:solidFill>
                  <a:srgbClr val="D6A75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C74D4-30B5-4A53-80E4-DC86B136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1F2A"/>
                </a:solidFill>
              </a:defRPr>
            </a:pPr>
            <a:r>
              <a:rPr sz="1875" b="1">
                <a:solidFill>
                  <a:srgbClr val="6B1F2A"/>
                </a:solidFill>
              </a:rPr>
              <a:t>BRONNEN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150D7-5D60-4B47-914F-2F95C7D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Waar mag AI op steunen?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3347D-4DD0-4E1A-A005-5EFDF46D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A756"/>
                </a:solidFill>
              </a:defRPr>
            </a:pPr>
            <a:r>
              <a:rPr sz="1875" b="1">
                <a:solidFill>
                  <a:srgbClr val="D6A756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C27E5-D6DB-4D6F-92C9-4252C135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05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1F2A"/>
                </a:solidFill>
              </a:defRPr>
            </a:pPr>
            <a:r>
              <a:rPr sz="1875" b="1">
                <a:solidFill>
                  <a:srgbClr val="6B1F2A"/>
                </a:solidFill>
              </a:rPr>
              <a:t>CRITERIA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4DC55-F3BE-43F3-9986-3BD36373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Wanneer is het bruikbaar?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D694E-8DBF-439B-9030-C8B37060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A756"/>
                </a:solidFill>
              </a:defRPr>
            </a:pPr>
            <a:r>
              <a:rPr sz="1875" b="1">
                <a:solidFill>
                  <a:srgbClr val="D6A756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C6BAC-7473-4B17-884E-9D49ED68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72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1F2A"/>
                </a:solidFill>
              </a:defRPr>
            </a:pPr>
            <a:r>
              <a:rPr sz="1875" b="1">
                <a:solidFill>
                  <a:srgbClr val="6B1F2A"/>
                </a:solidFill>
              </a:rPr>
              <a:t>FORMAT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FA60B-E6A6-45FC-9001-D7EB7987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Hoe wil je het ontvangen?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CBCFC-4417-4206-A1ED-ED5FD34F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A756"/>
                </a:solidFill>
              </a:defRPr>
            </a:pPr>
            <a:r>
              <a:rPr sz="1875" b="1">
                <a:solidFill>
                  <a:srgbClr val="D6A756"/>
                </a:solidFill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63D85-5FDC-462D-A587-C428EDE5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1F2A"/>
                </a:solidFill>
              </a:defRPr>
            </a:pPr>
            <a:r>
              <a:rPr sz="1875" b="1">
                <a:solidFill>
                  <a:srgbClr val="6B1F2A"/>
                </a:solidFill>
              </a:rPr>
              <a:t>CONTROLE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1B6055-2D89-4857-A427-F0BD86F2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Wat moet AI en jij checken?</a:t>
            </a:r>
          </a:p>
        </p:txBody>
      </p:sp>
    </p:spTree>
    <p:extLst>
      <p:ext uri="{BB962C8B-B14F-4D97-AF65-F5344CB8AC3E}">
        <p14:creationId xmlns:p14="http://schemas.microsoft.com/office/powerpoint/2010/main" val="1553445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089BD-AC08-451B-8BB7-F5AE36AF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PROMPTEN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41635A3E-264D-43AA-A375-8C2C6892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Van vaag verzoek naar controleerbaar resultaat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3819B-6FCD-4580-833C-95DADF57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0709D-5A46-42E1-A72C-7A47A084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1E3A4-CCD6-4A3C-BC33-0E357A43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B88F4-B8CB-4D7A-9584-CCD2AA3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2F537-6FCF-45F6-8BEE-E3F8A6A5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1F2A"/>
                </a:solidFill>
              </a:defRPr>
            </a:pPr>
            <a:r>
              <a:rPr sz="2325" b="1">
                <a:solidFill>
                  <a:srgbClr val="6B1F2A"/>
                </a:solidFill>
              </a:rPr>
              <a:t>Te vaag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41F5D-A1B7-4559-984C-E633E9FE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24175"/>
            <a:ext cx="4953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“Maak een toets over de Romeinen.”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Geen klas</a:t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Geen leerdoel</a:t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Geen bron</a:t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Geen kwaliteitscheck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464D7-8001-4BCE-8381-638BA6A6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955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1F2A"/>
                </a:solidFill>
              </a:defRPr>
            </a:pPr>
            <a:r>
              <a:rPr sz="2325" b="1">
                <a:solidFill>
                  <a:srgbClr val="6B1F2A"/>
                </a:solidFill>
              </a:rPr>
              <a:t>Werkbaar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F2C33-C2F2-4D85-B1FB-D6A56501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4953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Klas 2 gymnasium</a:t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Meetbaar leerdoel</a:t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Alleen opgegeven bron</a:t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20 punten + antwoordmodel</a:t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Check ambiguïteit en tijd</a:t>
            </a:r>
          </a:p>
        </p:txBody>
      </p:sp>
    </p:spTree>
    <p:extLst>
      <p:ext uri="{BB962C8B-B14F-4D97-AF65-F5344CB8AC3E}">
        <p14:creationId xmlns:p14="http://schemas.microsoft.com/office/powerpoint/2010/main" val="2104862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3515B-9BCD-49BA-9541-B03B4CFC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DEMO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F1A8FAA8-A514-4A77-AED5-1D593FD1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Live demo: bouw kwaliteit in de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8B8A-F8EB-495E-B4E1-1B636394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3E03B-F249-437F-9DD0-499EFACB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1AAA1-DD8C-45F7-98F8-7FB9BE36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D6A756"/>
                </a:solidFill>
              </a:defRPr>
            </a:pPr>
            <a:r>
              <a:rPr sz="3525" b="1">
                <a:solidFill>
                  <a:srgbClr val="D6A756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AF757-6F31-4AB9-A2D1-1AD2C994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Start expres te vaag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8D27C-4E8D-4777-9923-AACF172C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D6A756"/>
                </a:solidFill>
              </a:defRPr>
            </a:pPr>
            <a:r>
              <a:rPr sz="3525" b="1">
                <a:solidFill>
                  <a:srgbClr val="D6A756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D9539-6009-4605-B315-8F724F3E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90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Voeg leerdoel, bron en punten toe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0031D-5884-4D42-868B-130E1814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D6A756"/>
                </a:solidFill>
              </a:defRPr>
            </a:pPr>
            <a:r>
              <a:rPr sz="3525" b="1">
                <a:solidFill>
                  <a:srgbClr val="D6A756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31994-B064-4CE1-8C94-337FADED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862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Laat AI zijn eigen output bekritiseren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5AE90-79F5-4F58-888E-EF06F07F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376B5-061E-4EF6-97E0-5E12A8E5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756"/>
                </a:solidFill>
              </a:defRPr>
            </a:pPr>
            <a:r>
              <a:rPr sz="2250" b="1">
                <a:solidFill>
                  <a:srgbClr val="D6A756"/>
                </a:solidFill>
              </a:rPr>
              <a:t>Let 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AA275-3A17-48F0-A9A9-381216E6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De tweede prompt is niet ‘waar’.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Hij is alleen beter controleerbaar.</a:t>
            </a:r>
          </a:p>
        </p:txBody>
      </p:sp>
    </p:spTree>
    <p:extLst>
      <p:ext uri="{BB962C8B-B14F-4D97-AF65-F5344CB8AC3E}">
        <p14:creationId xmlns:p14="http://schemas.microsoft.com/office/powerpoint/2010/main" val="9966328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6BC11-5E52-4667-BDED-E69E3F75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PRIVACY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8904D399-517D-4967-9137-C2FCA3D1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Veilig gebruik begint vóór de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7B486-38E0-413C-8746-51B124B8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1BBCA-F3EB-4BDD-B9DB-BE1DB5E8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A55C5-916C-428B-90A8-4A548730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4F"/>
                </a:solidFill>
              </a:defRPr>
            </a:pPr>
            <a:r>
              <a:rPr sz="1350" b="1">
                <a:solidFill>
                  <a:srgbClr val="2F6B4F"/>
                </a:solidFill>
              </a:rPr>
              <a:t>GROEN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01E38-E481-4F50-84C2-C4EB9FB7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Fictief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73F71-8892-45AC-AD4B-995BE861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DB094-8C4B-4A6E-B8FF-4AD142F7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5179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Lesideeën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Voorbeeldteksten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Quizvarianten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Structuurhulp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9FF4F-7656-4453-87C7-5008FB34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09550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5F16"/>
                </a:solidFill>
              </a:defRPr>
            </a:pPr>
            <a:r>
              <a:rPr sz="1350" b="1">
                <a:solidFill>
                  <a:srgbClr val="A65F16"/>
                </a:solidFill>
              </a:rPr>
              <a:t>ORANJE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4D6AA-BFB1-488F-A795-675E7D0F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55270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Minimaal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D3B44-ADAB-4727-9C42-63F8CCE2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28612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F16"/>
          </a:solidFill>
          <a:ln xmlns:a="http://schemas.openxmlformats.org/drawingml/2006/main" w="0">
            <a:solidFill>
              <a:srgbClr val="A65F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3F858-61F8-49D5-8C8F-3B541463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524250"/>
            <a:ext cx="35179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Geanonimiseerd werk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Feedbackconcept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Toetsmateriaal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Extra controle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D6D25-4E42-4244-9BA2-DA149EE2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09550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2B2B"/>
                </a:solidFill>
              </a:defRPr>
            </a:pPr>
            <a:r>
              <a:rPr sz="1350" b="1">
                <a:solidFill>
                  <a:srgbClr val="9D2B2B"/>
                </a:solidFill>
              </a:rPr>
              <a:t>ROOD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C0005-A357-42A2-9391-8C3A2596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55270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Niet invoeren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31BE9-6B89-47DF-B24F-0AA1E479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28612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2B2B"/>
          </a:solidFill>
          <a:ln xmlns:a="http://schemas.openxmlformats.org/drawingml/2006/main" w="0">
            <a:solidFill>
              <a:srgbClr val="9D2B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9EB37-554A-482D-BEE6-1A6F7000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524250"/>
            <a:ext cx="35179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Namen en cijfers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Dossiers en gezondheid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Centraal examenwerk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Disciplinaire besluiten</a:t>
            </a:r>
          </a:p>
        </p:txBody>
      </p:sp>
    </p:spTree>
    <p:extLst>
      <p:ext uri="{BB962C8B-B14F-4D97-AF65-F5344CB8AC3E}">
        <p14:creationId xmlns:p14="http://schemas.microsoft.com/office/powerpoint/2010/main" val="14273152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558A9-A3BA-4AF8-9B77-340F8E84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CONTROLE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FF13C3E9-CB7A-4297-935B-D8D4295E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K.L.O.P.T. vóór je output gebruikt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939D2-8182-4A84-AE07-CE73E3FB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4A578-9881-4F05-BBFE-C05931C2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0B83A-DFAE-4142-9C5B-1C550501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E83EC-CB88-498E-95E0-02FE5DCD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825C9-AFCD-4291-83A7-A0AB59CE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907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1F2A"/>
                </a:solidFill>
              </a:defRPr>
            </a:pPr>
            <a:r>
              <a:rPr sz="2175" b="1">
                <a:solidFill>
                  <a:srgbClr val="6B1F2A"/>
                </a:solidFill>
              </a:rPr>
              <a:t>Klopt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4122A-5FFE-4E0F-B725-3F0AC39C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193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vakinhoud en berekening?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5B492-3C19-4380-8468-BED07CDB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4565A-51AD-4994-B76A-ACEF8FF6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AC4FA-54EA-4908-B623-2BD49CEA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1F2A"/>
                </a:solidFill>
              </a:defRPr>
            </a:pPr>
            <a:r>
              <a:rPr sz="2175" b="1">
                <a:solidFill>
                  <a:srgbClr val="6B1F2A"/>
                </a:solidFill>
              </a:rPr>
              <a:t>Lijn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0CF75-AA63-49B5-8A91-19DA938B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98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met leerdoel en niveau?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CC45A-0321-42D8-8730-1FC24F25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362F0-9264-4024-8F5F-75EA98F9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0E424-181C-45E8-AA58-4D86F0D0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1F2A"/>
                </a:solidFill>
              </a:defRPr>
            </a:pPr>
            <a:r>
              <a:rPr sz="2175" b="1">
                <a:solidFill>
                  <a:srgbClr val="6B1F2A"/>
                </a:solidFill>
              </a:rPr>
              <a:t>Onderbouwd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38696-9E1B-4C6B-8B58-8356BE9D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004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met bronnen en aannames?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BC29D-F883-473D-A379-C957C8E7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64F07-70D3-410E-A80B-832AB0AC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FC9C7-04EF-458A-AC43-2EAC7BC3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1F2A"/>
                </a:solidFill>
              </a:defRPr>
            </a:pPr>
            <a:r>
              <a:rPr sz="2175" b="1">
                <a:solidFill>
                  <a:srgbClr val="6B1F2A"/>
                </a:solidFill>
              </a:rPr>
              <a:t>Privacy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BE5C7-BB89-4736-B587-BBE6A205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910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gegevens echt minimaal?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59BC1-124F-4527-B960-5CB89D01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49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83209-B9C1-4D99-AD11-8A59C5A2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6CE062-AE1B-4106-AF36-9A709DD3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530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B1F2A"/>
                </a:solidFill>
              </a:defRPr>
            </a:pPr>
            <a:r>
              <a:rPr sz="2175" b="1">
                <a:solidFill>
                  <a:srgbClr val="6B1F2A"/>
                </a:solidFill>
              </a:rPr>
              <a:t>Tekenen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EDD39-1491-4F53-B6CE-8C8BAB88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816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jij voor het eindbesluit?</a:t>
            </a:r>
          </a:p>
        </p:txBody>
      </p:sp>
    </p:spTree>
    <p:extLst>
      <p:ext uri="{BB962C8B-B14F-4D97-AF65-F5344CB8AC3E}">
        <p14:creationId xmlns:p14="http://schemas.microsoft.com/office/powerpoint/2010/main" val="11766462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C4046-25C1-44EC-B93E-D29BEC3B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OEFENEN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EAAC15CE-3578-451A-81B8-9D7CAD4E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Hands-on 1: maak een mini-toets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B3C0E-1CD5-44C5-9050-F5C89FF5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8B37C-CE11-4A58-AA7B-34D670FB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557B7-4398-4EF4-B09F-C72BC32A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FD19A-924A-4422-A9A9-D2958086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288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WERK IN DUO'S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FA6C2-E505-4EC3-A51A-5AFC44E4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Kies één echt leerdoel. Gebruik geen herkenbare leerlinggegevens.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2CC13-9550-45D3-9C64-21B829E6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28825"/>
            <a:ext cx="128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D6A756"/>
                </a:solidFill>
              </a:defRPr>
            </a:pPr>
            <a:r>
              <a:rPr sz="2400" b="1">
                <a:solidFill>
                  <a:srgbClr val="D6A756"/>
                </a:solidFill>
              </a:rPr>
              <a:t>25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49E71-3A34-4C57-9149-A5A8A04C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STAP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7792A-BCB3-49A8-9354-285D36BF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Maak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45143-1A61-46A6-8A80-49974884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2AC9C-0FD4-49AC-8DBE-DA334FA2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35179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Toetsmatrijs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3-5 vragen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Antwoordmodel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1D9B0-20B7-4DB9-9394-CC50E554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42900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STAP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E97F1-4E19-415F-88EB-30F33A89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88620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Controleer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2D661-2D0A-457D-92CD-8678C575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461962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1C549-298F-42F8-A8E8-1374A143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4857750"/>
            <a:ext cx="35179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Leerdoel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Ambiguïteit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Punten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Haalbaarheid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3C5A5-992B-4D8D-8DBA-7A85C7E8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42900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STAP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8AE26-221A-469A-9B54-E66BE66A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88620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Verbeter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AAE43-757B-4CDC-9076-E2DEB7F6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61962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8550C-D232-4AAC-B4BA-C581EA6C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857750"/>
            <a:ext cx="35179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Pas prompt aan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Bewaar versie 2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Deel één reparatie</a:t>
            </a:r>
          </a:p>
        </p:txBody>
      </p:sp>
    </p:spTree>
    <p:extLst>
      <p:ext uri="{BB962C8B-B14F-4D97-AF65-F5344CB8AC3E}">
        <p14:creationId xmlns:p14="http://schemas.microsoft.com/office/powerpoint/2010/main" val="10866177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12170-D75A-4907-83AE-864CDE20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HANDS-ON 1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74B17175-6822-4840-BE58-D8D7ECE1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Begin bij de toetsmatrijs, niet bij losse vragen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4D942-CB9D-41BE-AB43-6606E1C5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C0A0D-81FB-4EC2-8363-50DE3A39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09BCE-1B6A-44AB-9E33-76E00B7F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B1F2A"/>
                </a:solidFill>
              </a:defRPr>
            </a:pPr>
            <a:r>
              <a:rPr sz="2100" b="1">
                <a:solidFill>
                  <a:srgbClr val="6B1F2A"/>
                </a:solidFill>
              </a:rPr>
              <a:t>LEERDOEL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4273D-C283-4A91-9E37-48B149E8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431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D6A756"/>
                </a:solidFill>
              </a:defRPr>
            </a:pPr>
            <a:r>
              <a:rPr sz="3300" b="1">
                <a:solidFill>
                  <a:srgbClr val="D6A756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FF270-3343-4521-96D5-F11141C8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90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B1F2A"/>
                </a:solidFill>
              </a:defRPr>
            </a:pPr>
            <a:r>
              <a:rPr sz="2100" b="1">
                <a:solidFill>
                  <a:srgbClr val="6B1F2A"/>
                </a:solidFill>
              </a:rPr>
              <a:t>TOETSMATRIJS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E5E99-9AD7-4E49-8217-84A0528E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D6A756"/>
                </a:solidFill>
              </a:defRPr>
            </a:pPr>
            <a:r>
              <a:rPr sz="3300" b="1">
                <a:solidFill>
                  <a:srgbClr val="D6A75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FB675-4037-4B01-8BB1-0C07C750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907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B1F2A"/>
                </a:solidFill>
              </a:defRPr>
            </a:pPr>
            <a:r>
              <a:rPr sz="2100" b="1">
                <a:solidFill>
                  <a:srgbClr val="6B1F2A"/>
                </a:solidFill>
              </a:rPr>
              <a:t>VRAGEN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4B696-990A-4ADD-B3FC-CCEF124F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D6A756"/>
                </a:solidFill>
              </a:defRPr>
            </a:pPr>
            <a:r>
              <a:rPr sz="3300" b="1">
                <a:solidFill>
                  <a:srgbClr val="D6A75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0475A-32EA-44EF-9A7F-31E9F5E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B1F2A"/>
                </a:solidFill>
              </a:defRPr>
            </a:pPr>
            <a:r>
              <a:rPr sz="2100" b="1">
                <a:solidFill>
                  <a:srgbClr val="6B1F2A"/>
                </a:solidFill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9E54D-D1A7-4627-9522-B8F1C463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29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E9DF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65C29-2EE8-4279-932A-4E2DA66C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67125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7222C"/>
                </a:solidFill>
              </a:defRPr>
            </a:pPr>
            <a:r>
              <a:rPr sz="3000" b="1">
                <a:solidFill>
                  <a:srgbClr val="17222C"/>
                </a:solidFill>
              </a:rPr>
              <a:t>AI versnelt de keten. Jij bewaakt de uitlijning.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455EC-CCAE-487F-8B35-D154B919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196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67085"/>
                </a:solidFill>
              </a:defRPr>
            </a:pPr>
            <a:r>
              <a:rPr sz="2025" b="0">
                <a:solidFill>
                  <a:srgbClr val="667085"/>
                </a:solidFill>
              </a:rPr>
              <a:t>Vraag steeds: welk leerdoel wordt in dit antwoord zichtbaar?</a:t>
            </a:r>
          </a:p>
        </p:txBody>
      </p:sp>
    </p:spTree>
    <p:extLst>
      <p:ext uri="{BB962C8B-B14F-4D97-AF65-F5344CB8AC3E}">
        <p14:creationId xmlns:p14="http://schemas.microsoft.com/office/powerpoint/2010/main" val="14522154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99E5F-543E-4050-AAB0-AD3E6B03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HANDS-ON 1</a:t>
            </a:r>
          </a:p>
        </p:txBody>
      </p:sp>
      <p:sp>
        <p:nvSpPr>
          <p:cNvPr id="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FD3131FB-A982-408A-957F-8F78DA1F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Werkprompt voor toets en antwoordmodel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60489-D6B6-4106-B7F9-C31ED896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1E906-BBDD-47F9-BD88-10184C73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27D53-6F05-4E62-AEE5-8647E6DC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858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DF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2B288-FEF2-4DB1-A3CF-2703DEED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10191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22C"/>
                </a:solidFill>
              </a:defRPr>
            </a:pPr>
            <a:r>
              <a:rPr sz="1950" b="0">
                <a:solidFill>
                  <a:srgbClr val="17222C"/>
                </a:solidFill>
              </a:rPr>
              <a:t>Ontwerp een mini-toets voor [vak, klas] bij dit leerdoel: [leerdoel].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7222C"/>
                </a:solidFill>
              </a:defRPr>
            </a:pPr>
            <a:r>
              <a:rPr sz="1950" b="0">
                <a:solidFill>
                  <a:srgbClr val="17222C"/>
                </a:solidFill>
              </a:rPr>
              <a:t>Maak eerst een toetsmatrijs en daarna 3-5 vragen met antwoordmodel en punten. Gebruik uitsluitend deze bron: [bron].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7222C"/>
                </a:solidFill>
              </a:defRPr>
            </a:pPr>
            <a:r>
              <a:rPr sz="1950" b="0">
                <a:solidFill>
                  <a:srgbClr val="17222C"/>
                </a:solidFill>
              </a:rPr>
              <a:t>Controleer ambiguïteit, alternatieve verdedigbare antwoorden, taalniveau en haalbaarheid. Sluit af met wat ik als docent nog moet verifiëren.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E61FE-1FD7-4423-B941-5A158F0E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B1F2A"/>
                </a:solidFill>
              </a:defRPr>
            </a:pPr>
            <a:r>
              <a:rPr sz="1800" b="1">
                <a:solidFill>
                  <a:srgbClr val="6B1F2A"/>
                </a:solidFill>
              </a:rPr>
              <a:t>Kopieer • vul aan • test • verbeter één keer</a:t>
            </a:r>
          </a:p>
        </p:txBody>
      </p:sp>
    </p:spTree>
    <p:extLst>
      <p:ext uri="{BB962C8B-B14F-4D97-AF65-F5344CB8AC3E}">
        <p14:creationId xmlns:p14="http://schemas.microsoft.com/office/powerpoint/2010/main" val="3558643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F677B-7943-463F-B97E-F5ACC482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HANDS-ON 1</a:t>
            </a:r>
          </a:p>
        </p:txBody>
      </p:sp>
      <p:sp>
        <p:nvSpPr>
          <p:cNvPr id="2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D2EC3A05-0A75-4521-A754-F4691612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De beste winst zit in je reparatie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64504-5DB7-494F-A106-AEA7CC55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2C25B-6098-4126-91A2-6A6F6255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4B6E5-2748-41A2-9FED-5539B2A0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C3185-35CD-43B1-B754-AAFDC335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78C45-56F2-446B-AC79-12114DDF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1F2A"/>
                </a:solidFill>
              </a:defRPr>
            </a:pPr>
            <a:r>
              <a:rPr sz="2325" b="1">
                <a:solidFill>
                  <a:srgbClr val="6B1F2A"/>
                </a:solidFill>
              </a:rPr>
              <a:t>AI maakte...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34B35-69DC-4464-8168-9101223E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24175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Welke vraag, rubricregel of formulering leek bruikbaar?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Waar was de output te algemeen, fout of oneerlijk?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7F692-EC21-467A-AA95-3C618489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955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1F2A"/>
                </a:solidFill>
              </a:defRPr>
            </a:pPr>
            <a:r>
              <a:rPr sz="2325" b="1">
                <a:solidFill>
                  <a:srgbClr val="6B1F2A"/>
                </a:solidFill>
              </a:rPr>
              <a:t>Ik veranderde...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FF938-FB14-41CD-A1CE-A020C98B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Wat heb je aangepast?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Welke extra promptregel voorkomt dezelfde fout de volgende keer?</a:t>
            </a:r>
          </a:p>
        </p:txBody>
      </p:sp>
    </p:spTree>
    <p:extLst>
      <p:ext uri="{BB962C8B-B14F-4D97-AF65-F5344CB8AC3E}">
        <p14:creationId xmlns:p14="http://schemas.microsoft.com/office/powerpoint/2010/main" val="18807463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45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33B44-0107-423B-A8DC-1A2EB10C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5 minuten pauze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23F55-3FB9-44F3-B3F2-A2F8AC88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6A756"/>
                </a:solidFill>
              </a:defRPr>
            </a:pPr>
            <a:r>
              <a:rPr sz="2175" b="0">
                <a:solidFill>
                  <a:srgbClr val="D6A756"/>
                </a:solidFill>
              </a:rPr>
              <a:t>Maak deze zin af: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D0A31-6764-4640-88BD-72D0053E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914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9DFCF"/>
                </a:solidFill>
              </a:defRPr>
            </a:pPr>
            <a:r>
              <a:rPr sz="2925" b="1">
                <a:solidFill>
                  <a:srgbClr val="E9DFCF"/>
                </a:solidFill>
              </a:rPr>
              <a:t>“AI was nuttig toen …</a:t>
            </a:r>
          </a:p>
          <a:p xmlns:a="http://schemas.openxmlformats.org/drawingml/2006/main">
            <a:pPr algn="l">
              <a:defRPr sz="2925" b="1">
                <a:solidFill>
                  <a:srgbClr val="E9DFCF"/>
                </a:solidFill>
              </a:defRPr>
            </a:pPr>
            <a:r>
              <a:rPr sz="2925" b="1">
                <a:solidFill>
                  <a:srgbClr val="E9DFCF"/>
                </a:solidFill>
              </a:rPr>
              <a:t>maar ik moest ingrijpen bij …”</a:t>
            </a:r>
          </a:p>
        </p:txBody>
      </p:sp>
    </p:spTree>
    <p:extLst>
      <p:ext uri="{BB962C8B-B14F-4D97-AF65-F5344CB8AC3E}">
        <p14:creationId xmlns:p14="http://schemas.microsoft.com/office/powerpoint/2010/main" val="8071810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08F46-CA79-4985-8252-6A0A9BDF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FEEDBACK</a:t>
            </a:r>
          </a:p>
        </p:txBody>
      </p:sp>
      <p:sp>
        <p:nvSpPr>
          <p:cNvPr id="2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FAA6C8B8-77E9-4BE6-9D5F-2DCE85FE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Bij nakijken is AI een tweede lezer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A0D68-2020-48F4-A91F-06CE2D1A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8ACF7-0358-455A-982E-EFFD1619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75463-0949-4E71-9254-208E2CFA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6A756"/>
                </a:solidFill>
              </a:defRPr>
            </a:pPr>
            <a:r>
              <a:rPr sz="3450" b="1">
                <a:solidFill>
                  <a:srgbClr val="D6A756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4DA91-0EF4-42FA-A2F5-24B31018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812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22C"/>
                </a:solidFill>
              </a:defRPr>
            </a:pPr>
            <a:r>
              <a:rPr sz="2175" b="1">
                <a:solidFill>
                  <a:srgbClr val="17222C"/>
                </a:solidFill>
              </a:rPr>
              <a:t>Rubric + geanonimiseerd werk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22B9C-DA3F-4613-88BF-CD9A2F0D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6A756"/>
                </a:solidFill>
              </a:defRPr>
            </a:pPr>
            <a:r>
              <a:rPr sz="3450" b="1">
                <a:solidFill>
                  <a:srgbClr val="D6A756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D85F9-BBB8-47C6-AC56-786400EE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22C"/>
                </a:solidFill>
              </a:defRPr>
            </a:pPr>
            <a:r>
              <a:rPr sz="2175" b="1">
                <a:solidFill>
                  <a:srgbClr val="17222C"/>
                </a:solidFill>
              </a:rPr>
              <a:t>AI koppelt tekstbewijs aan criteria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C7687-FAB8-4016-81B9-04E3934F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6A756"/>
                </a:solidFill>
              </a:defRPr>
            </a:pPr>
            <a:r>
              <a:rPr sz="3450" b="1">
                <a:solidFill>
                  <a:srgbClr val="D6A756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1EA17-C4D1-453C-8F86-BFD55B36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22C"/>
                </a:solidFill>
              </a:defRPr>
            </a:pPr>
            <a:r>
              <a:rPr sz="2175" b="1">
                <a:solidFill>
                  <a:srgbClr val="17222C"/>
                </a:solidFill>
              </a:rPr>
              <a:t>Docent controleert en beslist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905A5-3DBB-4F42-B387-25B81F5A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714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solidFill>
              <a:srgbClr val="E7F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AE434-F496-494B-B6AE-BAED247E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6B4F"/>
                </a:solidFill>
              </a:defRPr>
            </a:pPr>
            <a:r>
              <a:rPr sz="2550" b="1">
                <a:solidFill>
                  <a:srgbClr val="2F6B4F"/>
                </a:solidFill>
              </a:rPr>
              <a:t>Geen eindcijfer</a:t>
            </a:r>
          </a:p>
          <a:p xmlns:a="http://schemas.openxmlformats.org/drawingml/2006/main">
            <a:pPr algn="ctr">
              <a:defRPr sz="2550" b="1">
                <a:solidFill>
                  <a:srgbClr val="2F6B4F"/>
                </a:solidFill>
              </a:defRPr>
            </a:pPr>
            <a:r>
              <a:rPr sz="2550" b="1">
                <a:solidFill>
                  <a:srgbClr val="2F6B4F"/>
                </a:solidFill>
              </a:rPr>
              <a:t>uit één modelantwoord</a:t>
            </a:r>
          </a:p>
        </p:txBody>
      </p:sp>
    </p:spTree>
    <p:extLst>
      <p:ext uri="{BB962C8B-B14F-4D97-AF65-F5344CB8AC3E}">
        <p14:creationId xmlns:p14="http://schemas.microsoft.com/office/powerpoint/2010/main" val="6498137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5B09F-7914-480F-9FED-53D2A741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FEEDBACK</a:t>
            </a:r>
          </a:p>
        </p:txBody>
      </p:sp>
      <p:sp>
        <p:nvSpPr>
          <p:cNvPr id="2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72563D2F-850D-4EBF-AB04-ADA9C1C1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Vraag om bewijs, onzekerheid en feedforward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EB7AD-D30B-495C-A929-793B71FC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0320F-E06D-431D-A123-6704EB7B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DB7E1-DF47-4DE7-BDDC-6B592702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DF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93941-95CE-4EBC-89EE-0DEBD60F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0191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Je bent tweede lezer, niet de beoordelaar.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Vergelijk het geanonimiseerde werk uitsluitend met de rubric. Geef per criterium:</a:t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• bewijs uit het werk;</a:t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• voorlopig niveau;</a:t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• één feedforward-tip;</a:t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• onzekerheden.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22C"/>
                </a:solidFill>
              </a:defRPr>
            </a:pPr>
            <a:r>
              <a:rPr sz="1875" b="0">
                <a:solidFill>
                  <a:srgbClr val="17222C"/>
                </a:solidFill>
              </a:rPr>
              <a:t>Ken geen eindcijfer toe. Citeer korte passages zodat ik alles kan controleren.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73930-C3C7-4273-9A5F-5AD8CCC2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B1F2A"/>
                </a:solidFill>
              </a:defRPr>
            </a:pPr>
            <a:r>
              <a:rPr sz="1950" b="1">
                <a:solidFill>
                  <a:srgbClr val="6B1F2A"/>
                </a:solidFill>
              </a:rPr>
              <a:t>Sterke promptregel: “citeer het bewijs”</a:t>
            </a:r>
          </a:p>
        </p:txBody>
      </p:sp>
    </p:spTree>
    <p:extLst>
      <p:ext uri="{BB962C8B-B14F-4D97-AF65-F5344CB8AC3E}">
        <p14:creationId xmlns:p14="http://schemas.microsoft.com/office/powerpoint/2010/main" val="19900609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09675-D7DA-42D3-80ED-0EE21383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BEOORDELEN</a:t>
            </a:r>
          </a:p>
        </p:txBody>
      </p:sp>
      <p:sp>
        <p:nvSpPr>
          <p:cNvPr id="2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3E35FA78-BBC6-4C77-B48C-33A6A18E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Menselijke controle is geen laatste klik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9C065-E0EF-4833-BA36-E109690C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17031-7AA1-4171-B5AB-75601EA3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166DE-A8D4-4A0B-AB4F-9EC6F13B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BEWIJS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3EB17-C200-4B4C-9BD7-A9DEA1AE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Wat staat 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A9945-F94A-4E36-8E72-02BD1E6F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033E9-9570-4170-B8B8-1C05D053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35179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Korte citaten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Werkstappen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Brongebruik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1D737-D7AD-450D-B0F4-ACF050D4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19075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CRITERIUM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617F5-D2E2-42A3-80E2-E32F228B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64795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Wat telt?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A028E-1A41-4CAF-9D42-D119D9EA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38137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04FEF-7D20-4A8D-B8B8-827C29D7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619500"/>
            <a:ext cx="35179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Rubric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Leerdoel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Antwoordmodel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D12CC-CB7D-4603-AB57-1B540FE8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19075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BESLUIT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A5B83-DB93-4E61-B0AE-E15B18CC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64795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Wie tekent?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8B171-969E-439C-9996-9DFDF910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38137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C2B16-EDE8-4CE1-A503-A7B5CBDA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619500"/>
            <a:ext cx="35179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Docent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Uitlegbaar</a:t>
            </a:r>
          </a:p>
          <a:p xmlns:a="http://schemas.openxmlformats.org/drawingml/2006/main">
            <a:pPr algn="l">
              <a:defRPr sz="1800" b="0">
                <a:solidFill>
                  <a:srgbClr val="17222C"/>
                </a:solidFill>
              </a:defRPr>
            </a:pPr>
            <a:r>
              <a:rPr sz="1800" b="0">
                <a:solidFill>
                  <a:srgbClr val="17222C"/>
                </a:solidFill>
              </a:rPr>
              <a:t>Corrigeerbaar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6E049-6792-4222-B8DF-5B896B68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7212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9D2B2B"/>
                </a:solidFill>
              </a:defRPr>
            </a:pPr>
            <a:r>
              <a:rPr sz="2175" b="1">
                <a:solidFill>
                  <a:srgbClr val="9D2B2B"/>
                </a:solidFill>
              </a:rPr>
              <a:t>Centrale examens: geen AI bij het nakijken</a:t>
            </a:r>
          </a:p>
        </p:txBody>
      </p:sp>
    </p:spTree>
    <p:extLst>
      <p:ext uri="{BB962C8B-B14F-4D97-AF65-F5344CB8AC3E}">
        <p14:creationId xmlns:p14="http://schemas.microsoft.com/office/powerpoint/2010/main" val="14714834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4F1C8-1F45-41C3-8695-FAA63AFC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INTEGRITEIT</a:t>
            </a:r>
          </a:p>
        </p:txBody>
      </p:sp>
      <p:sp>
        <p:nvSpPr>
          <p:cNvPr id="2" name="slide-20-title">
            <a:extLst xmlns:a="http://schemas.openxmlformats.org/drawingml/2006/main">
              <a:ext uri="{FF2B5EF4-FFF2-40B4-BE49-F238E27FC236}">
                <a16:creationId xmlns:a16="http://schemas.microsoft.com/office/drawing/2014/main" id="{B657C13B-1401-4589-AD62-926A3A10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AI-signalen zijn aanwijzingen, geen vonnis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E6C31-D70D-4AFE-8556-FAC401F1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E6F50-C5D6-491E-8DA0-A6AF5DCB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917B6-8968-4268-BE62-7C7756D4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B691C-08DF-43E6-8DB3-66824419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98130-DD48-458A-B398-7F6E5DCF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1F2A"/>
                </a:solidFill>
              </a:defRPr>
            </a:pPr>
            <a:r>
              <a:rPr sz="2325" b="1">
                <a:solidFill>
                  <a:srgbClr val="6B1F2A"/>
                </a:solidFill>
              </a:rPr>
              <a:t>Zwakke signalen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A2278-39D8-494A-919D-B7976D39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22C"/>
                </a:solidFill>
              </a:defRPr>
            </a:pPr>
            <a:r>
              <a:rPr sz="1950" b="0">
                <a:solidFill>
                  <a:srgbClr val="17222C"/>
                </a:solidFill>
              </a:rPr>
              <a:t>Detectorpercentage</a:t>
            </a:r>
          </a:p>
          <a:p xmlns:a="http://schemas.openxmlformats.org/drawingml/2006/main">
            <a:pPr algn="l">
              <a:defRPr sz="1950" b="0">
                <a:solidFill>
                  <a:srgbClr val="17222C"/>
                </a:solidFill>
              </a:defRPr>
            </a:pPr>
            <a:r>
              <a:rPr sz="1950" b="0">
                <a:solidFill>
                  <a:srgbClr val="17222C"/>
                </a:solidFill>
              </a:rPr>
              <a:t>Gladde of formele stijl</a:t>
            </a:r>
          </a:p>
          <a:p xmlns:a="http://schemas.openxmlformats.org/drawingml/2006/main">
            <a:pPr algn="l">
              <a:defRPr sz="1950" b="0">
                <a:solidFill>
                  <a:srgbClr val="17222C"/>
                </a:solidFill>
              </a:defRPr>
            </a:pPr>
            <a:r>
              <a:rPr sz="1950" b="0">
                <a:solidFill>
                  <a:srgbClr val="17222C"/>
                </a:solidFill>
              </a:rPr>
              <a:t>Plots andere toon</a:t>
            </a:r>
          </a:p>
          <a:p xmlns:a="http://schemas.openxmlformats.org/drawingml/2006/main">
            <a:pPr algn="l">
              <a:defRPr sz="1950" b="0">
                <a:solidFill>
                  <a:srgbClr val="17222C"/>
                </a:solidFill>
              </a:defRPr>
            </a:pPr>
            <a:r>
              <a:rPr sz="1950" b="0">
                <a:solidFill>
                  <a:srgbClr val="17222C"/>
                </a:solidFill>
              </a:rPr>
              <a:t>Weinig taalfouten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B5600-91DD-43F4-82E8-ABD80B20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1F2A"/>
                </a:solidFill>
              </a:defRPr>
            </a:pPr>
            <a:r>
              <a:rPr sz="2325" b="1">
                <a:solidFill>
                  <a:srgbClr val="6B1F2A"/>
                </a:solidFill>
              </a:rPr>
              <a:t>Betere vragen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5EE23-EB37-4503-B1A2-D2756C2A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22C"/>
                </a:solidFill>
              </a:defRPr>
            </a:pPr>
            <a:r>
              <a:rPr sz="1950" b="0">
                <a:solidFill>
                  <a:srgbClr val="17222C"/>
                </a:solidFill>
              </a:rPr>
              <a:t>Kloppen de bronnen?</a:t>
            </a:r>
          </a:p>
          <a:p xmlns:a="http://schemas.openxmlformats.org/drawingml/2006/main">
            <a:pPr algn="l">
              <a:defRPr sz="1950" b="0">
                <a:solidFill>
                  <a:srgbClr val="17222C"/>
                </a:solidFill>
              </a:defRPr>
            </a:pPr>
            <a:r>
              <a:rPr sz="1950" b="0">
                <a:solidFill>
                  <a:srgbClr val="17222C"/>
                </a:solidFill>
              </a:rPr>
              <a:t>Is het denkproces zichtbaar?</a:t>
            </a:r>
          </a:p>
          <a:p xmlns:a="http://schemas.openxmlformats.org/drawingml/2006/main">
            <a:pPr algn="l">
              <a:defRPr sz="1950" b="0">
                <a:solidFill>
                  <a:srgbClr val="17222C"/>
                </a:solidFill>
              </a:defRPr>
            </a:pPr>
            <a:r>
              <a:rPr sz="1950" b="0">
                <a:solidFill>
                  <a:srgbClr val="17222C"/>
                </a:solidFill>
              </a:rPr>
              <a:t>Kan de leerling keuzes uitleggen?</a:t>
            </a:r>
          </a:p>
          <a:p xmlns:a="http://schemas.openxmlformats.org/drawingml/2006/main">
            <a:pPr algn="l">
              <a:defRPr sz="1950" b="0">
                <a:solidFill>
                  <a:srgbClr val="17222C"/>
                </a:solidFill>
              </a:defRPr>
            </a:pPr>
            <a:r>
              <a:rPr sz="1950" b="0">
                <a:solidFill>
                  <a:srgbClr val="17222C"/>
                </a:solidFill>
              </a:rPr>
              <a:t>Wat stond vooraf in de opdracht?</a:t>
            </a:r>
          </a:p>
        </p:txBody>
      </p:sp>
    </p:spTree>
    <p:extLst>
      <p:ext uri="{BB962C8B-B14F-4D97-AF65-F5344CB8AC3E}">
        <p14:creationId xmlns:p14="http://schemas.microsoft.com/office/powerpoint/2010/main" val="71969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32C076-1C24-4F79-8D9F-2E1C518D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INTEGRITEIT</a:t>
            </a:r>
          </a:p>
        </p:txBody>
      </p:sp>
      <p:sp>
        <p:nvSpPr>
          <p:cNvPr id="2" name="slide-21-title">
            <a:extLst xmlns:a="http://schemas.openxmlformats.org/drawingml/2006/main">
              <a:ext uri="{FF2B5EF4-FFF2-40B4-BE49-F238E27FC236}">
                <a16:creationId xmlns:a16="http://schemas.microsoft.com/office/drawing/2014/main" id="{B8D7C79E-6168-4056-B6C9-712AAE9F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Werk van vermoeden naar hoor en wederhoor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7A9BC-4BE9-435F-A361-A91C07ED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0B845-C4C8-4CAC-8DB9-5CFAF6CE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FB013-C786-414E-AD7A-6B0E4545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52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0">
            <a:solidFill>
              <a:srgbClr val="EEE8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0406F-E271-4B7B-BE87-D9B4C8F0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B1F2A"/>
                </a:solidFill>
              </a:defRPr>
            </a:pPr>
            <a:r>
              <a:rPr sz="2100" b="1">
                <a:solidFill>
                  <a:srgbClr val="6B1F2A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E7147-AF21-47E9-A582-A405DD6F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22C"/>
                </a:solidFill>
              </a:defRPr>
            </a:pPr>
            <a:r>
              <a:rPr sz="1950" b="1">
                <a:solidFill>
                  <a:srgbClr val="17222C"/>
                </a:solidFill>
              </a:rPr>
              <a:t>Vooraf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D1FFD-DD39-4A71-847A-394630A6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57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Wat was toegestaan?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320F9-1989-46A0-98CB-8163D930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952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0">
            <a:solidFill>
              <a:srgbClr val="EEE8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7954A-0329-4A63-9455-E48518F8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717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B1F2A"/>
                </a:solidFill>
              </a:defRPr>
            </a:pPr>
            <a:r>
              <a:rPr sz="2100" b="1">
                <a:solidFill>
                  <a:srgbClr val="6B1F2A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9AAE9-0B0C-4E34-95C5-8FA5B544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956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22C"/>
                </a:solidFill>
              </a:defRPr>
            </a:pPr>
            <a:r>
              <a:rPr sz="1950" b="1">
                <a:solidFill>
                  <a:srgbClr val="17222C"/>
                </a:solidFill>
              </a:rPr>
              <a:t>Controle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4D9A6-CE63-4C53-9061-1E46F652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19500"/>
            <a:ext cx="157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Bronnen en inconsistenties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C988C-A4A1-4337-B076-0D4FE6FD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81250"/>
            <a:ext cx="1952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0">
            <a:solidFill>
              <a:srgbClr val="EEE8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B9F98-5886-4C80-B131-7F12E94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B1F2A"/>
                </a:solidFill>
              </a:defRPr>
            </a:pPr>
            <a:r>
              <a:rPr sz="2100" b="1">
                <a:solidFill>
                  <a:srgbClr val="6B1F2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A9407-18D9-4C32-A692-434E0DE3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956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22C"/>
                </a:solidFill>
              </a:defRPr>
            </a:pPr>
            <a:r>
              <a:rPr sz="1950" b="1">
                <a:solidFill>
                  <a:srgbClr val="17222C"/>
                </a:solidFill>
              </a:rPr>
              <a:t>Proces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0B01D-6FB3-4C93-A7BA-2085B5F9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157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Versies, notities, logboek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9876D-F62F-436B-AD5D-8D395C0B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952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0">
            <a:solidFill>
              <a:srgbClr val="EEE8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C91A7-BB47-4818-B92B-7FA6E77C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717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B1F2A"/>
                </a:solidFill>
              </a:defRPr>
            </a:pPr>
            <a:r>
              <a:rPr sz="2100" b="1">
                <a:solidFill>
                  <a:srgbClr val="6B1F2A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45288-FB80-4179-A7F8-CACA1F92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956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22C"/>
                </a:solidFill>
              </a:defRPr>
            </a:pPr>
            <a:r>
              <a:rPr sz="1950" b="1">
                <a:solidFill>
                  <a:srgbClr val="17222C"/>
                </a:solidFill>
              </a:rPr>
              <a:t>Gesprek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74262-4F14-47C4-9618-A4B90304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19500"/>
            <a:ext cx="157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Neutraal laten uitleggen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05997-787A-4A51-96EC-A94AE1BD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1250"/>
            <a:ext cx="1952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524FB-A2CF-4D88-88DA-A262C66E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717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A756"/>
                </a:solidFill>
              </a:defRPr>
            </a:pPr>
            <a:r>
              <a:rPr sz="2100" b="1">
                <a:solidFill>
                  <a:srgbClr val="D6A756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6927D-AA1B-42AD-8BCE-54EB0136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956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Besluit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7F8514-51A6-4C3A-9600-46B1613D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19500"/>
            <a:ext cx="157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DFCF"/>
                </a:solidFill>
              </a:defRPr>
            </a:pPr>
            <a:r>
              <a:rPr sz="1500" b="0">
                <a:solidFill>
                  <a:srgbClr val="E9DFCF"/>
                </a:solidFill>
              </a:rPr>
              <a:t>Menselijk + bestaande regels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48BA5B-F35A-470A-BFBC-19DAF010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006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D2B2B"/>
                </a:solidFill>
              </a:defRPr>
            </a:pPr>
            <a:r>
              <a:rPr sz="2025" b="1">
                <a:solidFill>
                  <a:srgbClr val="9D2B2B"/>
                </a:solidFill>
              </a:rPr>
              <a:t>Detector? Hooguit aanvullend signaal — nooit stap 5.</a:t>
            </a:r>
          </a:p>
        </p:txBody>
      </p:sp>
    </p:spTree>
    <p:extLst>
      <p:ext uri="{BB962C8B-B14F-4D97-AF65-F5344CB8AC3E}">
        <p14:creationId xmlns:p14="http://schemas.microsoft.com/office/powerpoint/2010/main" val="10830275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AAE0C-72FF-4FA1-AD24-59A11722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TOETSONTWERP</a:t>
            </a:r>
          </a:p>
        </p:txBody>
      </p:sp>
      <p:sp>
        <p:nvSpPr>
          <p:cNvPr id="2" name="slide-22-title">
            <a:extLst xmlns:a="http://schemas.openxmlformats.org/drawingml/2006/main">
              <a:ext uri="{FF2B5EF4-FFF2-40B4-BE49-F238E27FC236}">
                <a16:creationId xmlns:a16="http://schemas.microsoft.com/office/drawing/2014/main" id="{DEB5D524-BAF7-4A6A-9765-B40ABA82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Maak leren zichtbaar, niet AI onzichtbaar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A0084-B1E5-4B70-AF5F-879C54EF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2BF02-F516-4591-9D58-C90A028E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6B76E-6DD8-4051-8BB0-41DCA3E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TIJDENS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FDF65-FAF1-4AFE-9455-3ADE84FE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0325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Procesbewijs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4DEA1-134C-465C-8904-4AAF5320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BE6FD-2140-4750-BF2C-AD062198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35179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Tussenversie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Bronnenlog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Keuzemomenten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Feedbackronde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86DA6-F897-4326-9C39-E575DD2F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143125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E76DA-6C4F-4D93-A309-887AA77B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600325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Uitleg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85365-4648-43DF-8748-B2E7D018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333750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66AAF-FF1E-486B-8CD4-A2800557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571875"/>
            <a:ext cx="35179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Kort mondeling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Nieuwe toepassing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Verdedig keuze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Reflecteer op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81DDD-C11E-46E9-84A7-94AF2C8E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143125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VOORAF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22FB1-8BAB-46C9-A171-FADB419B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600325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22C"/>
                </a:solidFill>
              </a:defRPr>
            </a:pPr>
            <a:r>
              <a:rPr sz="2325" b="1">
                <a:solidFill>
                  <a:srgbClr val="17222C"/>
                </a:solidFill>
              </a:rPr>
              <a:t>Heldere regels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3B190-1020-4041-8F61-D83F2B3C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333750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DF8E0-4136-4FBA-BBDA-7A6FF974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571875"/>
            <a:ext cx="35179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Toegestaan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Verplicht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Verboden</a:t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Vermeld gebruik</a:t>
            </a:r>
          </a:p>
        </p:txBody>
      </p:sp>
    </p:spTree>
    <p:extLst>
      <p:ext uri="{BB962C8B-B14F-4D97-AF65-F5344CB8AC3E}">
        <p14:creationId xmlns:p14="http://schemas.microsoft.com/office/powerpoint/2010/main" val="321178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48E0F-AE9C-4884-963E-16034123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INTEGRITEIT</a:t>
            </a:r>
          </a:p>
        </p:txBody>
      </p:sp>
      <p:sp>
        <p:nvSpPr>
          <p:cNvPr id="2" name="slide-23-title">
            <a:extLst xmlns:a="http://schemas.openxmlformats.org/drawingml/2006/main">
              <a:ext uri="{FF2B5EF4-FFF2-40B4-BE49-F238E27FC236}">
                <a16:creationId xmlns:a16="http://schemas.microsoft.com/office/drawing/2014/main" id="{5AFBD2E8-FE73-4153-A187-FDC380AB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Casus: 78% AI, twee onvindbare bronnen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713FC-92D3-43CD-BEBE-56AA018F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588D6-7108-40A2-A2AB-4F805AD9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002C5-706F-44EA-A912-9665057A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6"/>
          </a:solidFill>
          <a:ln xmlns:a="http://schemas.openxmlformats.org/drawingml/2006/main" w="0">
            <a:solidFill>
              <a:srgbClr val="FCE8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37426-8517-4615-A599-913E30B4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D2B2B"/>
                </a:solidFill>
              </a:defRPr>
            </a:pPr>
            <a:r>
              <a:rPr sz="2325" b="1">
                <a:solidFill>
                  <a:srgbClr val="9D2B2B"/>
                </a:solidFill>
              </a:rPr>
              <a:t>Een plots foutloze tekst. Detector: 78%. Twee bronnen bestaan niet.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2B1EA-DEAA-4AA1-B26F-CA22AFEE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C57D1-5A76-4F50-8154-88810E19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82254-4E2C-4158-865C-6929E57A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95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1F2A"/>
                </a:solidFill>
              </a:defRPr>
            </a:pPr>
            <a:r>
              <a:rPr sz="2325" b="1">
                <a:solidFill>
                  <a:srgbClr val="6B1F2A"/>
                </a:solidFill>
              </a:rPr>
              <a:t>Wat doe je vandaag?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79A5B-03DF-43CE-AC17-79FD5DA9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481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Noteer drie concrete stappen.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Wie moet je eventueel betrekken?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1407F-5118-490E-BFD4-AB503CC8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95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1F2A"/>
                </a:solidFill>
              </a:defRPr>
            </a:pPr>
            <a:r>
              <a:rPr sz="2325" b="1">
                <a:solidFill>
                  <a:srgbClr val="6B1F2A"/>
                </a:solidFill>
              </a:rPr>
              <a:t>Wat doe je niet?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D1227-440C-440E-BF0C-C69F5F15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481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Welke snelle conclusie of handeling is onzorgvuldig?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Wat zeg je tegen de leerling?</a:t>
            </a:r>
          </a:p>
        </p:txBody>
      </p:sp>
    </p:spTree>
    <p:extLst>
      <p:ext uri="{BB962C8B-B14F-4D97-AF65-F5344CB8AC3E}">
        <p14:creationId xmlns:p14="http://schemas.microsoft.com/office/powerpoint/2010/main" val="17233470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C68A4-8192-4C25-9D55-72A53802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BORGEN</a:t>
            </a:r>
          </a:p>
        </p:txBody>
      </p:sp>
      <p:sp>
        <p:nvSpPr>
          <p:cNvPr id="2" name="slide-24-title">
            <a:extLst xmlns:a="http://schemas.openxmlformats.org/drawingml/2006/main">
              <a:ext uri="{FF2B5EF4-FFF2-40B4-BE49-F238E27FC236}">
                <a16:creationId xmlns:a16="http://schemas.microsoft.com/office/drawing/2014/main" id="{4F5C6C25-E020-4609-AA82-6D85F1A5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Eén schoolsysteem voorkomt losse improvisatie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2831C-0B1B-47F2-BF1A-4BAA086C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428D0-42A3-45C2-B024-00666E58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010C8-EC82-4B5C-A3A2-CFF874CC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A756"/>
                </a:solidFill>
              </a:defRPr>
            </a:pPr>
            <a:r>
              <a:rPr sz="1875" b="1">
                <a:solidFill>
                  <a:srgbClr val="D6A756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33AC2-00CD-41AD-8F62-CA914173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B1F2A"/>
                </a:solidFill>
              </a:defRPr>
            </a:pPr>
            <a:r>
              <a:rPr sz="1950" b="1">
                <a:solidFill>
                  <a:srgbClr val="6B1F2A"/>
                </a:solidFill>
              </a:rPr>
              <a:t>Goedgekeurde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7A154-FE7A-44DD-9D70-DE24E913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Welke accounts en functies mogen?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E4217-64E0-467E-8A9D-1236CFDD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A756"/>
                </a:solidFill>
              </a:defRPr>
            </a:pPr>
            <a:r>
              <a:rPr sz="1875" b="1">
                <a:solidFill>
                  <a:srgbClr val="D6A75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83373-39D4-461F-BD7B-96923BB4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86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B1F2A"/>
                </a:solidFill>
              </a:defRPr>
            </a:pPr>
            <a:r>
              <a:rPr sz="1950" b="1">
                <a:solidFill>
                  <a:srgbClr val="6B1F2A"/>
                </a:solidFill>
              </a:rPr>
              <a:t>Verkeerslicht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38DA7-3AA8-40A9-A8C3-92780422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Welke taken zijn groen, oranje of rood?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0871A-4B42-4B74-8780-D7435B75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A756"/>
                </a:solidFill>
              </a:defRPr>
            </a:pPr>
            <a:r>
              <a:rPr sz="1875" b="1">
                <a:solidFill>
                  <a:srgbClr val="D6A75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06F32-C6CC-47D8-AB5B-6548C84A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194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B1F2A"/>
                </a:solidFill>
              </a:defRPr>
            </a:pPr>
            <a:r>
              <a:rPr sz="1950" b="1">
                <a:solidFill>
                  <a:srgbClr val="6B1F2A"/>
                </a:solidFill>
              </a:rPr>
              <a:t>Vaste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3F975-09B3-418E-9D0D-C6E315DF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1947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Doel, context, bron, criteria, format, controle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20A00-CFFE-4B38-8B0C-21EB80CB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A756"/>
                </a:solidFill>
              </a:defRPr>
            </a:pPr>
            <a:r>
              <a:rPr sz="1875" b="1">
                <a:solidFill>
                  <a:srgbClr val="D6A756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3A3FE-C9B6-47B7-BB8A-63EC62FF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B1F2A"/>
                </a:solidFill>
              </a:defRPr>
            </a:pPr>
            <a:r>
              <a:rPr sz="1950" b="1">
                <a:solidFill>
                  <a:srgbClr val="6B1F2A"/>
                </a:solidFill>
              </a:rPr>
              <a:t>K.L.O.P.T.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9AE06-37BF-49DF-880F-FAE71803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Eén outputcheck voor iedereen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3C682-6159-4698-AAA7-A1EB6B76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A756"/>
                </a:solidFill>
              </a:defRPr>
            </a:pPr>
            <a:r>
              <a:rPr sz="1875" b="1">
                <a:solidFill>
                  <a:srgbClr val="D6A756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82B04-656E-42CC-AB74-642D3AF0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863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B1F2A"/>
                </a:solidFill>
              </a:defRPr>
            </a:pPr>
            <a:r>
              <a:rPr sz="1950" b="1">
                <a:solidFill>
                  <a:srgbClr val="6B1F2A"/>
                </a:solidFill>
              </a:rPr>
              <a:t>Escalatie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DFA08-D601-475B-8477-349F2DB3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8632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2C"/>
                </a:solidFill>
              </a:defRPr>
            </a:pPr>
            <a:r>
              <a:rPr sz="1725" b="0">
                <a:solidFill>
                  <a:srgbClr val="17222C"/>
                </a:solidFill>
              </a:rPr>
              <a:t>Privacy, examen en integriteit naar juiste rol</a:t>
            </a:r>
          </a:p>
        </p:txBody>
      </p:sp>
    </p:spTree>
    <p:extLst>
      <p:ext uri="{BB962C8B-B14F-4D97-AF65-F5344CB8AC3E}">
        <p14:creationId xmlns:p14="http://schemas.microsoft.com/office/powerpoint/2010/main" val="3297648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AC624-1868-4DF2-8DC7-57155FD1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SOP</a:t>
            </a:r>
          </a:p>
        </p:txBody>
      </p:sp>
      <p:sp>
        <p:nvSpPr>
          <p:cNvPr id="2" name="slide-25-title">
            <a:extLst xmlns:a="http://schemas.openxmlformats.org/drawingml/2006/main">
              <a:ext uri="{FF2B5EF4-FFF2-40B4-BE49-F238E27FC236}">
                <a16:creationId xmlns:a16="http://schemas.microsoft.com/office/drawing/2014/main" id="{3FE7AE9E-C562-424E-9B78-2D2EA2D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De zesstappen-SOP past op één scherm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28A6E-D0F3-4911-BA00-7D9AA8F1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1BAF1-18B8-4E6D-B7DA-780EADA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0F293-594F-4A3B-982C-64E86358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0">
            <a:solidFill>
              <a:srgbClr val="EEE8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8E656-60D3-4693-A976-3A700411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B1F2A"/>
                </a:solidFill>
              </a:defRPr>
            </a:pPr>
            <a:r>
              <a:rPr sz="2025" b="1">
                <a:solidFill>
                  <a:srgbClr val="6B1F2A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9D821-2319-49DE-A072-5EA2E846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956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2C"/>
                </a:solidFill>
              </a:defRPr>
            </a:pPr>
            <a:r>
              <a:rPr sz="1725" b="1">
                <a:solidFill>
                  <a:srgbClr val="17222C"/>
                </a:solidFill>
              </a:rPr>
              <a:t>DOEL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320E5-AF1B-4B27-99FA-C5E17199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0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0">
            <a:solidFill>
              <a:srgbClr val="EEE8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082BE-3267-40C2-BF05-09C9654F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B1F2A"/>
                </a:solidFill>
              </a:defRPr>
            </a:pPr>
            <a:r>
              <a:rPr sz="2025" b="1">
                <a:solidFill>
                  <a:srgbClr val="6B1F2A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96C13-3AE1-4344-B3C0-F492BAA3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956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2C"/>
                </a:solidFill>
              </a:defRPr>
            </a:pPr>
            <a:r>
              <a:rPr sz="1725" b="1">
                <a:solidFill>
                  <a:srgbClr val="17222C"/>
                </a:solidFill>
              </a:rPr>
              <a:t>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40580-3872-4A81-A48E-8F2352F8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86000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0">
            <a:solidFill>
              <a:srgbClr val="EEE8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A4048-5E3D-4F60-9710-EC3CE691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76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B1F2A"/>
                </a:solidFill>
              </a:defRPr>
            </a:pPr>
            <a:r>
              <a:rPr sz="2025" b="1">
                <a:solidFill>
                  <a:srgbClr val="6B1F2A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1EAFE-8DA9-4E90-AEF9-D421775A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956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2C"/>
                </a:solidFill>
              </a:defRPr>
            </a:pPr>
            <a:r>
              <a:rPr sz="1725" b="1">
                <a:solidFill>
                  <a:srgbClr val="17222C"/>
                </a:solidFill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B47D7-C3F5-4266-8749-25BE3F98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0">
            <a:solidFill>
              <a:srgbClr val="EEE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F9344-ED96-47E2-877F-5AC075FF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B1F2A"/>
                </a:solidFill>
              </a:defRPr>
            </a:pPr>
            <a:r>
              <a:rPr sz="2025" b="1">
                <a:solidFill>
                  <a:srgbClr val="6B1F2A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AF9DB-3AF0-4FCD-AD03-660B00F5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956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2C"/>
                </a:solidFill>
              </a:defRPr>
            </a:pPr>
            <a:r>
              <a:rPr sz="1725" b="1">
                <a:solidFill>
                  <a:srgbClr val="17222C"/>
                </a:solidFill>
              </a:rPr>
              <a:t>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DDE71-7695-4B44-8627-2E634FD8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0">
            <a:solidFill>
              <a:srgbClr val="EEE8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250C0-CF8F-4B64-B44D-99EB7702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76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B1F2A"/>
                </a:solidFill>
              </a:defRPr>
            </a:pPr>
            <a:r>
              <a:rPr sz="2025" b="1">
                <a:solidFill>
                  <a:srgbClr val="6B1F2A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AACAD-E93A-4166-A9E9-BAF3509B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956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2C"/>
                </a:solidFill>
              </a:defRPr>
            </a:pPr>
            <a:r>
              <a:rPr sz="1725" b="1">
                <a:solidFill>
                  <a:srgbClr val="17222C"/>
                </a:solidFill>
              </a:rPr>
              <a:t>CONTROLE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89D53-7593-46CA-8FA0-5E84C3A3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0D37-98DF-44DB-94D1-FC0A190C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76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6A756"/>
                </a:solidFill>
              </a:defRPr>
            </a:pPr>
            <a:r>
              <a:rPr sz="2025" b="1">
                <a:solidFill>
                  <a:srgbClr val="D6A756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A6877F-E1F7-47C0-BA1A-A0EB305F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956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BESLUIT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144EB-F678-4649-A7D6-4F966399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243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D2B2B"/>
                </a:solidFill>
              </a:defRPr>
            </a:pPr>
            <a:r>
              <a:rPr sz="2400" b="1">
                <a:solidFill>
                  <a:srgbClr val="9D2B2B"/>
                </a:solidFill>
              </a:rPr>
              <a:t>Stop zodra tool, data of menselijke controle niet op orde is.</a:t>
            </a:r>
          </a:p>
        </p:txBody>
      </p:sp>
    </p:spTree>
    <p:extLst>
      <p:ext uri="{BB962C8B-B14F-4D97-AF65-F5344CB8AC3E}">
        <p14:creationId xmlns:p14="http://schemas.microsoft.com/office/powerpoint/2010/main" val="14254887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939B1-FD3E-4C97-8ABB-6C4BAF91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1F2A"/>
                </a:solidFill>
              </a:defRPr>
            </a:pPr>
            <a:r>
              <a:rPr sz="1275" b="1">
                <a:solidFill>
                  <a:srgbClr val="6B1F2A"/>
                </a:solidFill>
              </a:rPr>
              <a:t>OEFENEN</a:t>
            </a:r>
          </a:p>
        </p:txBody>
      </p:sp>
      <p:sp>
        <p:nvSpPr>
          <p:cNvPr id="2" name="slide-26-title">
            <a:extLst xmlns:a="http://schemas.openxmlformats.org/drawingml/2006/main">
              <a:ext uri="{FF2B5EF4-FFF2-40B4-BE49-F238E27FC236}">
                <a16:creationId xmlns:a16="http://schemas.microsoft.com/office/drawing/2014/main" id="{48FAAA91-BF5D-42B5-981B-0F20F634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9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22C"/>
                </a:solidFill>
              </a:defRPr>
            </a:pPr>
            <a:r>
              <a:rPr sz="3750" b="1">
                <a:solidFill>
                  <a:srgbClr val="17222C"/>
                </a:solidFill>
              </a:rPr>
              <a:t>Hands-on 2: ontwerp jouw veilige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71065-14E9-45A7-82B2-FA94D0BC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4F5D1-088E-4A66-AC80-57F20688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0166F-360B-46C2-8142-9FB95170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1F2A"/>
          </a:solidFill>
          <a:ln xmlns:a="http://schemas.openxmlformats.org/drawingml/2006/main" w="0">
            <a:solidFill>
              <a:srgbClr val="6B1F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D6C81-1FE8-4D07-B207-ECE7F2AD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288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WERK ALLEEN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D92A0-50B7-4A65-AFA9-B60367BF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Kies één terugkerende taak en maak de menselijke controle expliciet.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1A756-51AD-46E9-8BCC-1AF9A072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28825"/>
            <a:ext cx="128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D6A756"/>
                </a:solidFill>
              </a:defRPr>
            </a:pPr>
            <a:r>
              <a:rPr sz="2400" b="1">
                <a:solidFill>
                  <a:srgbClr val="D6A756"/>
                </a:solidFill>
              </a:rPr>
              <a:t>3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F8DEB-96F1-43DB-99A4-D0C41455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AI-ROL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7C6C7-620A-497C-937D-22399717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22C"/>
                </a:solidFill>
              </a:defRPr>
            </a:pPr>
            <a:r>
              <a:rPr sz="2025" b="1">
                <a:solidFill>
                  <a:srgbClr val="17222C"/>
                </a:solidFill>
              </a:rPr>
              <a:t>Wat doet AI?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20F5C-D65B-4BF1-AE06-34DC8D89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89B7E-6976-45EB-84CF-56199DFA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35179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Concept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Varianten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Structuur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Tweede lezer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555C8-ACD6-4583-AB2B-7CF29EDF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42900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GRENS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FAA93-662C-4668-88E3-13FE3A62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88620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22C"/>
                </a:solidFill>
              </a:defRPr>
            </a:pPr>
            <a:r>
              <a:rPr sz="2025" b="1">
                <a:solidFill>
                  <a:srgbClr val="17222C"/>
                </a:solidFill>
              </a:rPr>
              <a:t>Grenzen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E23EC-C57C-4676-AA3D-2EA47F4B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461962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98878-7224-4C3D-8910-8539D3FC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4857750"/>
            <a:ext cx="35179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Welke data?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Welk besluit?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Wanneer stop je?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24769-DFF6-4641-825C-A7496972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429000"/>
            <a:ext cx="351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1F2A"/>
                </a:solidFill>
              </a:defRPr>
            </a:pPr>
            <a:r>
              <a:rPr sz="1350" b="1">
                <a:solidFill>
                  <a:srgbClr val="6B1F2A"/>
                </a:solidFill>
              </a:rPr>
              <a:t>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D598F-DF58-4F87-B9E6-DDF8CA81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886200"/>
            <a:ext cx="351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22C"/>
                </a:solidFill>
              </a:defRPr>
            </a:pPr>
            <a:r>
              <a:rPr sz="2025" b="1">
                <a:solidFill>
                  <a:srgbClr val="17222C"/>
                </a:solidFill>
              </a:rPr>
              <a:t>Morgen testen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00287-082F-4925-9EB1-C04D721C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619625"/>
            <a:ext cx="351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8F6FA-DEAE-40CD-9DFA-4BB812AF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857750"/>
            <a:ext cx="35179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Kleine taak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Meet kwaliteit</a:t>
            </a:r>
          </a:p>
          <a:p xmlns:a="http://schemas.openxmlformats.org/drawingml/2006/main">
            <a:pPr algn="l">
              <a:defRPr sz="1650" b="0">
                <a:solidFill>
                  <a:srgbClr val="17222C"/>
                </a:solidFill>
              </a:defRPr>
            </a:pPr>
            <a:r>
              <a:rPr sz="1650" b="0">
                <a:solidFill>
                  <a:srgbClr val="17222C"/>
                </a:solidFill>
              </a:rPr>
              <a:t>Deel bevinding</a:t>
            </a:r>
          </a:p>
        </p:txBody>
      </p:sp>
    </p:spTree>
    <p:extLst>
      <p:ext uri="{BB962C8B-B14F-4D97-AF65-F5344CB8AC3E}">
        <p14:creationId xmlns:p14="http://schemas.microsoft.com/office/powerpoint/2010/main" val="17521099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4514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4DC16-3A61-4321-82EA-37462DA5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A756"/>
                </a:solidFill>
              </a:defRPr>
            </a:pPr>
            <a:r>
              <a:rPr sz="1500" b="1">
                <a:solidFill>
                  <a:srgbClr val="D6A756"/>
                </a:solidFill>
              </a:rPr>
              <a:t>BEGIN KLEIN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E0A03-846F-40D7-9D80-8B777A91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Morgen één taak.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Altijd zelf controleren.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BE15E-E3A3-4FC1-A15E-0832C1A5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56"/>
          </a:solidFill>
          <a:ln xmlns:a="http://schemas.openxmlformats.org/drawingml/2006/main" w="0">
            <a:solidFill>
              <a:srgbClr val="D6A7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ED381-F54B-43C3-AA6E-A3FBA5FE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E9DFCF"/>
                </a:solidFill>
              </a:defRPr>
            </a:pPr>
            <a:r>
              <a:rPr sz="2175" b="0">
                <a:solidFill>
                  <a:srgbClr val="E9DFCF"/>
                </a:solidFill>
              </a:rPr>
              <a:t>Geen persoonsgegevens • geen detectorvonnis • menselijk eindbesluit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E7F4B-0350-4139-AC4C-6E508B82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A756"/>
                </a:solidFill>
              </a:defRPr>
            </a:pPr>
            <a:r>
              <a:rPr sz="1725" b="0">
                <a:solidFill>
                  <a:srgbClr val="D6A756"/>
                </a:solidFill>
              </a:rPr>
              <a:t>Je hebt mee: werkboek • prompts • trainershandleiding • AI-SOP</a:t>
            </a:r>
          </a:p>
        </p:txBody>
      </p:sp>
    </p:spTree>
    <p:extLst>
      <p:ext uri="{BB962C8B-B14F-4D97-AF65-F5344CB8AC3E}">
        <p14:creationId xmlns:p14="http://schemas.microsoft.com/office/powerpoint/2010/main" val="1253367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2026-07-27T12:34:44.2810000Z</dcterms:created>
  <dcterms:modified xsi:type="dcterms:W3CDTF">2026-07-27T12:34:44.2810000Z</dcterms:modified>
</coreProperties>
</file>